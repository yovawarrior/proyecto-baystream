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avance dirigida al tutor. El propósito es dar el panorama completo de lo entregado en cada fecha del cronograma, no repetir el detalle de cada entregable.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lámina que responde a la pregunta del tutor. Cuatro entregas cerradas, 25 de 50 puntos del curso. Las tres restantes ya tienen alcance planificado y fechas asignadas.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 de cierre de la fase de investigación. Es el punto donde el proyecto pasa de investigar a construir.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 Backlog completo con estimación por tarea. 46 elementos, 209 puntos, 99.5 horas. Las 46 fichas siguen el formato del ERS ya aprobado.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Planificación del primer sprint. Nota honesta: RF-020 ya estaba hecho desde febrero; se retiró del sprint y se sustituyó por una corrección menor. El documento entregado no se modificó y la diferencia se reporta de viva voz.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cinco funcionalidades del sprint, completas y verificadas contra un archivo BAPLIE real de 977 contenedores. Ninguna tarea se desvió del doble de su estimación.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apartado de seguridad. El punto que conviene subrayar en voz alta: la evaluación se equivocó al inferir las reglas de Firestore en vez de leerlas, y ese error demuestra el propio hallazgo que denunciaba la falta de control de versiones sobre ellas.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apartado de calidad. La cifra que importa no es el 83 % sino los tres defectos que existen únicamente porque hubo un segundo revisor: uno de ellos es una prueba unitaria que aparenta cubrir un caso y no lo cubre.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cuatro puntos se declaran por iniciativa propia, sin esperar la pregunta. Declararlos es más fuerte que dejar que los encuentre el tribunal.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Las tres entregas restantes suman 25 puntos y ya tienen alcance planificado. El sprint de septiembre a octubre está reservado íntegro para RF-027, la validación de estiba a pie de muelle.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33050" y="2057400"/>
            <a:ext cx="2240280" cy="0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08731" y="2195320"/>
            <a:ext cx="1305208" cy="475057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8708" y="2316604"/>
            <a:ext cx="1716154" cy="1440024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31425" y="2406625"/>
            <a:ext cx="694487" cy="1202886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99824" y="2454524"/>
            <a:ext cx="389021" cy="2206245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59776" y="2454524"/>
            <a:ext cx="-241193" cy="1367872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28175" y="2406625"/>
            <a:ext cx="-1120140" cy="1940139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0892" y="2316604"/>
            <a:ext cx="-1064016" cy="892815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50869" y="2195320"/>
            <a:ext cx="-2105175" cy="766221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26550" y="2057400"/>
            <a:ext cx="-1388974" cy="0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50869" y="1919480"/>
            <a:ext cx="-2105175" cy="-766221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0892" y="1798196"/>
            <a:ext cx="-1064016" cy="-892815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28175" y="1708175"/>
            <a:ext cx="-1120140" cy="-1940139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9776" y="1660276"/>
            <a:ext cx="-241193" cy="-1367872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99824" y="1660276"/>
            <a:ext cx="389021" cy="-2206245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31425" y="1708175"/>
            <a:ext cx="694487" cy="-1202886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38708" y="1798196"/>
            <a:ext cx="1716154" cy="-1440024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08731" y="1919480"/>
            <a:ext cx="1305208" cy="-475057"/>
          </a:xfrm>
          <a:prstGeom prst="line">
            <a:avLst/>
          </a:prstGeom>
          <a:noFill/>
          <a:ln w="1397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22792" y="850392"/>
            <a:ext cx="2414016" cy="2414016"/>
          </a:xfrm>
          <a:prstGeom prst="ellipse">
            <a:avLst/>
          </a:prstGeom>
          <a:ln w="12700">
            <a:solidFill>
              <a:srgbClr val="C4503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9016" y="356616"/>
            <a:ext cx="3401568" cy="3401568"/>
          </a:xfrm>
          <a:prstGeom prst="ellipse">
            <a:avLst/>
          </a:prstGeom>
          <a:ln w="12700">
            <a:solidFill>
              <a:srgbClr val="C4503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27464" y="1655064"/>
            <a:ext cx="804672" cy="804672"/>
          </a:xfrm>
          <a:prstGeom prst="ellipse">
            <a:avLst/>
          </a:prstGeom>
          <a:solidFill>
            <a:srgbClr val="C4503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14813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40" kern="0" dirty="0">
                <a:solidFill>
                  <a:srgbClr val="D9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GRADUACIÓN II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1847088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BayStream</a:t>
            </a:r>
            <a:endParaRPr lang="en-US" sz="66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30540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B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del proyecto conforme al calendario del curso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68680" y="3767328"/>
            <a:ext cx="2834640" cy="0"/>
          </a:xfrm>
          <a:prstGeom prst="line">
            <a:avLst/>
          </a:prstGeom>
          <a:noFill/>
          <a:ln w="31750">
            <a:solidFill>
              <a:srgbClr val="2E7D7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404164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Giovanni Martínez Aldana   ·   0909‑22‑19157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37083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Juan Pablo Escobar   ·   Universidad Mariano Gálvez de Guatemala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70001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Barrios, Izabal   ·   29 de agosto de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PANORAMA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Cuatro entregas hechas, tres por delante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261872" y="2724912"/>
            <a:ext cx="9628632" cy="0"/>
          </a:xfrm>
          <a:prstGeom prst="line">
            <a:avLst/>
          </a:prstGeom>
          <a:noFill/>
          <a:ln w="31750">
            <a:solidFill>
              <a:srgbClr val="D3C6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2295144"/>
            <a:ext cx="859536" cy="859536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32104" y="2450592"/>
            <a:ext cx="85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64592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08‑ago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46704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conclusiones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4297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36876" y="2295144"/>
            <a:ext cx="859536" cy="859536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36876" y="2450592"/>
            <a:ext cx="85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208276" y="164592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15‑ago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153412" y="3346704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Backlog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estimación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08276" y="4297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41648" y="2295144"/>
            <a:ext cx="859536" cy="859536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041648" y="2450592"/>
            <a:ext cx="85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164592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22‑ago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758184" y="3346704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Backlog,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y Kanban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813048" y="4297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46420" y="2295144"/>
            <a:ext cx="859536" cy="859536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46420" y="2450592"/>
            <a:ext cx="85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417820" y="164592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29‑ago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62956" y="3346704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1,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calidad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17820" y="4297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06056" y="2350008"/>
            <a:ext cx="749808" cy="749808"/>
          </a:xfrm>
          <a:prstGeom prst="ellipse">
            <a:avLst/>
          </a:prstGeom>
          <a:solidFill>
            <a:srgbClr val="F2E9DA"/>
          </a:solidFill>
          <a:ln w="25400">
            <a:solidFill>
              <a:srgbClr val="6B60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22592" y="164592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0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19‑sep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67728" y="3346704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2.º Sprint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4297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10828" y="2350008"/>
            <a:ext cx="749808" cy="749808"/>
          </a:xfrm>
          <a:prstGeom prst="ellipse">
            <a:avLst/>
          </a:prstGeom>
          <a:solidFill>
            <a:srgbClr val="F2E9DA"/>
          </a:solidFill>
          <a:ln w="25400">
            <a:solidFill>
              <a:srgbClr val="6B605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27364" y="164592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0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17‑oct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572500" y="3346704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2,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calidad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627364" y="4297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515600" y="2350008"/>
            <a:ext cx="749808" cy="749808"/>
          </a:xfrm>
          <a:prstGeom prst="ellipse">
            <a:avLst/>
          </a:prstGeom>
          <a:solidFill>
            <a:srgbClr val="F2E9DA"/>
          </a:solidFill>
          <a:ln w="25400">
            <a:solidFill>
              <a:srgbClr val="6B605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232136" y="164592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0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24‑oct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177272" y="3346704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despliegue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presentación final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232136" y="4297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8368" y="5138928"/>
            <a:ext cx="10844784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6112" y="5303520"/>
            <a:ext cx="10378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de 50 puntos entregados. </a:t>
            </a:r>
            <a:pPr indent="0" marL="0">
              <a:buNone/>
            </a:pPr>
            <a:r>
              <a:rPr lang="en-US" sz="130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entregas cerradas se presentaron completas y en fecha. El cronograma abre el 25 de julio; esta presentación detalla desde el 8 de agosto.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98448" cy="1298448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87782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ago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121408" y="54864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1  ·  5 PUNTOS  ·  ENTREGADA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121408" y="877824"/>
            <a:ext cx="9418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Resultados y conclusiones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48256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fase de investigación: presentación de los resultados del trabajo de campo y de las conclusiones que fundamentan el desarrollo posterior.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136392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054096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aplicados y resultados analizados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3611880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529584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alineadas con las hipótesis del estudio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4087368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4005072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metodológica para el ciclo de construcción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82128" y="2048256"/>
            <a:ext cx="3621024" cy="2615184"/>
          </a:xfrm>
          <a:prstGeom prst="roundRect">
            <a:avLst>
              <a:gd name="adj" fmla="val 3497"/>
            </a:avLst>
          </a:prstGeom>
          <a:solidFill>
            <a:srgbClr val="241F1B"/>
          </a:solidFill>
          <a:ln/>
        </p:spPr>
      </p:sp>
      <p:sp>
        <p:nvSpPr>
          <p:cNvPr id="14" name="Shape 12"/>
          <p:cNvSpPr/>
          <p:nvPr/>
        </p:nvSpPr>
        <p:spPr>
          <a:xfrm>
            <a:off x="9832543" y="2788920"/>
            <a:ext cx="777240" cy="0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18688" y="2849622"/>
            <a:ext cx="434167" cy="209084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79868" y="2898301"/>
            <a:ext cx="484601" cy="607671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23771" y="2925316"/>
            <a:ext cx="107230" cy="469807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1509" y="2925316"/>
            <a:ext cx="-172952" cy="757753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5412" y="2898301"/>
            <a:ext cx="-300453" cy="376756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66592" y="2849622"/>
            <a:ext cx="-700269" cy="337232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2737" y="2788920"/>
            <a:ext cx="-481889" cy="0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66592" y="2728218"/>
            <a:ext cx="-700269" cy="-337232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5412" y="2679539"/>
            <a:ext cx="-300453" cy="-376756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61509" y="2652524"/>
            <a:ext cx="-172952" cy="-757753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23771" y="2652524"/>
            <a:ext cx="107230" cy="-469807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79868" y="2679539"/>
            <a:ext cx="484601" cy="-607671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18688" y="2728218"/>
            <a:ext cx="434167" cy="-209084"/>
          </a:xfrm>
          <a:prstGeom prst="line">
            <a:avLst/>
          </a:prstGeom>
          <a:noFill/>
          <a:ln w="10160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01584" y="37307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Punto de partida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101584" y="407822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aquí el proyecto pasa de investigar a construir.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98448" cy="1298448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87782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ago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121408" y="54864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2  ·  10 PUNTOS  ·  ENTREGADA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121408" y="877824"/>
            <a:ext cx="9418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Backlog y estimación de tiempos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228600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7238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del backlog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144" y="2103120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38144" y="228600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0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307238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historia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228600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A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99.5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307238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estimadas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97696" y="2103120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997696" y="228600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61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107424" y="307238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del documento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4142232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059936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requerimientos funcionales, 3 tareas técnicas, 3 ampliaciones y 5 tareas de cierre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4617720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535424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MoSCoW: 100 % de los MUST, 60 % de los SHOULD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" y="5093208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5010912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Estimación por tarea, con 46 fichas en el formato del ERS aprobado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" y="5568696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5486400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Kanban del backlog completo, navegable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98448" cy="1298448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87782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ago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121408" y="54864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3  ·  5 PUNTOS  ·  ENTREGADA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121408" y="877824"/>
            <a:ext cx="9418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Sprint Backlog, historias y tablero Kanban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340156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2286000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72384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en el sprint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2103120"/>
            <a:ext cx="340156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34256" y="2286000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0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443984" y="3072384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planificadas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10144" y="2103120"/>
            <a:ext cx="351129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10144" y="2286000"/>
            <a:ext cx="3511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A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 h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119872" y="30723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comprometida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4142232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059936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de usuario con criterios de aceptación verificables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" y="4617720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535424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Kanban del sprint, con estados y responsables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5093208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5010912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16 páginas con la planificación completa del sprint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54126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abrir el sprint se detectó que uno de los cinco elementos ya estaba implementado desde febrero. Se reportó el ajuste de alcance en vez de rehacerlo.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98448" cy="1298448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87782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ago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121408" y="54864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4  ·  5 PUNTOS  ·  PARTE 1 DE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121408" y="877824"/>
            <a:ext cx="9418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Incremento 1, construido y verificado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58368" y="2048256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2231136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/ 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175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cerrados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144" y="2048256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38144" y="2231136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9.75 h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30175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 h de capacidad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048256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2231136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0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 / 31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30175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en verde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97696" y="2048256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997696" y="2231136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A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/ 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107424" y="30175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compilando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4050792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968496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peso por nivel en el plano de bahía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4507992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425696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longitudinal del buque, navegable hacia el detalle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" y="4965192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4882896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del reporte en PDF, con plano por bahía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" y="5422392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5340096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en CSV y JSON desde un único punto de entrada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8368" y="5879592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05840" y="5797296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vacío del buscador ordenado por frecuencia real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63093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confirmaciones en el repositorio · una sola dependencia nueva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98448" cy="1298448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87782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ago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121408" y="54864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4  ·  PARTE 2 DE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121408" y="877824"/>
            <a:ext cx="9418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Seguridad del sprint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2996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línea base sobre el código real, con dos catálogos: OWASP Top 10:2025 para los clientes web y OWASP Mobile Top 10 2024 para Android.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044952"/>
            <a:ext cx="155448" cy="155448"/>
          </a:xfrm>
          <a:prstGeom prst="diamond">
            <a:avLst/>
          </a:prstGeom>
          <a:solidFill>
            <a:srgbClr val="C450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962656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hallazgos clasificados por severidad y tratamiento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3520440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438144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2 críticas, resueltas y verificadas en producción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3995928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3913632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autorización ahora bajo control de versiones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4471416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38912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Instrumentación de la hipótesis H5, operativa: 30/30 eventos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" y="4946904"/>
            <a:ext cx="155448" cy="155448"/>
          </a:xfrm>
          <a:prstGeom prst="diamond">
            <a:avLst/>
          </a:prstGeom>
          <a:solidFill>
            <a:srgbClr val="D99A1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864608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3 restantes, asignadas a las tareas de cierre de octubre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99248" y="2029968"/>
            <a:ext cx="3803904" cy="3310128"/>
          </a:xfrm>
          <a:prstGeom prst="roundRect">
            <a:avLst>
              <a:gd name="adj" fmla="val 2762"/>
            </a:avLst>
          </a:prstGeom>
          <a:solidFill>
            <a:srgbClr val="241F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73568" y="228600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9A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hallazgo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D99A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más útil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7973568" y="3163824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evaluación se corrigió a sí misma: dos de sus conclusiones eran falsas por haber inferido las reglas en vez de leerlas en la consola.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973568" y="4352544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es exactamente lo que el primer hallazgo denunciaba.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98448" cy="1298448"/>
          </a:xfrm>
          <a:prstGeom prst="ellipse">
            <a:avLst/>
          </a:prstGeom>
          <a:solidFill>
            <a:srgbClr val="2E7D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877824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ago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2121408" y="54864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4  ·  PARTE 3 DE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121408" y="877824"/>
            <a:ext cx="9418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Calidad: una prueba doble y ciega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29968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auditores independientes respondieron el mismo instrumento de 78 comprobaciones sin ver el trabajo del otro. La independencia quedó garantizada por el orden de las confirmaciones y por un área de trabajo aislada.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2926080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" y="310896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8953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comprobaciones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8144" y="2926080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38144" y="310896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83 %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38953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concordancia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310896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0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38953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defectos confirmados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7696" y="2926080"/>
            <a:ext cx="2505456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ACEBB"/>
            </a:solidFill>
            <a:prstDash val="solid"/>
          </a:ln>
          <a:effectLst>
            <a:outerShdw sx="100000" sy="100000" kx="0" ky="0" algn="bl" rotWithShape="0" blurRad="88900" dist="25400" dir="5400000">
              <a:srgbClr val="9A8C79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97696" y="3108960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A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107424" y="38953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un solo revisor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habría visto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4946904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864608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defecto impide la entrega: las cinco funcionalidades operan y las pruebas pasan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" y="5422392"/>
            <a:ext cx="155448" cy="155448"/>
          </a:xfrm>
          <a:prstGeom prst="diamond">
            <a:avLst/>
          </a:prstGeom>
          <a:solidFill>
            <a:srgbClr val="2E7D7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340096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defectos quedan priorizados y asignados a las tareas de cierre de octubre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" y="5897880"/>
            <a:ext cx="155448" cy="155448"/>
          </a:xfrm>
          <a:prstGeom prst="diamond">
            <a:avLst/>
          </a:prstGeom>
          <a:solidFill>
            <a:srgbClr val="D99A1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5815584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F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análisis predijo por lectura el mecanismo que el otro encontró ejecutando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754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DECLARO SIN QUE ME LO PREGUNTEN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Cuatro límites conocidos del trabajo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938528"/>
            <a:ext cx="475488" cy="475488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01168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35024" y="188366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límite de apilamiento es un supuesto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224942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archivo BAPLIE no transmite el límite estructural de la pila: vive en el manual de estabilidad del buque. La alerta es orientativa, no un cálculo certificado.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90672"/>
            <a:ext cx="475488" cy="475488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316382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303580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capacidad de bahía también lo es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335024" y="3401568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ocupación se calcula sobre una capacidad supuesta que el propio archivo contradice. Es la misma clase de límite que el anterior y se declara igual.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242816"/>
            <a:ext cx="475488" cy="475488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43159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418795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Tres discrepancias entre el ERS y el código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335024" y="455371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requerimientos figuran como propuestos en el ERS y están implementados desde febrero y mayo. Corresponde corregir el ERS.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5394960"/>
            <a:ext cx="475488" cy="475488"/>
          </a:xfrm>
          <a:prstGeom prst="ellipse">
            <a:avLst/>
          </a:prstGeom>
          <a:solidFill>
            <a:srgbClr val="D99A1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54681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35024" y="534009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F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Una detención en Android con el archivo real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335024" y="5705856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0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vista de plano de bahía detiene la aplicación en Android con el corpus completo. Windows y navegador funcionan. Está diagnosticada y priorizada.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3536" y="950976"/>
            <a:ext cx="1060704" cy="1060704"/>
          </a:xfrm>
          <a:prstGeom prst="ellipse">
            <a:avLst/>
          </a:prstGeom>
          <a:ln w="12700">
            <a:solidFill>
              <a:srgbClr val="2E7D7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47504" y="694944"/>
            <a:ext cx="1572768" cy="1572768"/>
          </a:xfrm>
          <a:prstGeom prst="ellipse">
            <a:avLst/>
          </a:prstGeom>
          <a:ln w="12700">
            <a:solidFill>
              <a:srgbClr val="2E7D7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01772" y="1481328"/>
            <a:ext cx="932688" cy="0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8992" y="1545574"/>
            <a:ext cx="534249" cy="221293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600" y="1600040"/>
            <a:ext cx="659510" cy="659510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98134" y="1636432"/>
            <a:ext cx="221293" cy="534249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33888" y="1649212"/>
            <a:ext cx="0" cy="932688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69642" y="1636432"/>
            <a:ext cx="-221293" cy="534249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15176" y="1600040"/>
            <a:ext cx="-659510" cy="659510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78784" y="1545574"/>
            <a:ext cx="-534249" cy="221293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66004" y="1481328"/>
            <a:ext cx="-932688" cy="0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78784" y="1417082"/>
            <a:ext cx="-534249" cy="-221293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15176" y="1362616"/>
            <a:ext cx="-659510" cy="-659510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9642" y="1326224"/>
            <a:ext cx="-221293" cy="-534249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33888" y="1313444"/>
            <a:ext cx="0" cy="-932688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98134" y="1326224"/>
            <a:ext cx="221293" cy="-534249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52600" y="1362616"/>
            <a:ext cx="659510" cy="-659510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88992" y="1417082"/>
            <a:ext cx="534249" cy="-221293"/>
          </a:xfrm>
          <a:prstGeom prst="line">
            <a:avLst/>
          </a:prstGeom>
          <a:noFill/>
          <a:ln w="10795">
            <a:solidFill>
              <a:srgbClr val="D99A16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6035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9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VIENE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Tres entregas, 25 puntos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658368" y="2048256"/>
            <a:ext cx="10844784" cy="1115568"/>
          </a:xfrm>
          <a:prstGeom prst="roundRect">
            <a:avLst>
              <a:gd name="adj" fmla="val 7377"/>
            </a:avLst>
          </a:prstGeom>
          <a:solidFill>
            <a:srgbClr val="312B2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" y="2231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19‑sep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2395728" y="220370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Segundo Sprint Backlog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395728" y="25603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y tablero del sprint que construye la validación de estiba a pie de muelle, la innovación central del proyecto.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04704" y="22494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pts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8368" y="3401568"/>
            <a:ext cx="10844784" cy="1115568"/>
          </a:xfrm>
          <a:prstGeom prst="roundRect">
            <a:avLst>
              <a:gd name="adj" fmla="val 7377"/>
            </a:avLst>
          </a:prstGeom>
          <a:solidFill>
            <a:srgbClr val="312B2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32688" y="35844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17‑oct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2395728" y="355701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Incremento 2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2395728" y="39136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RF‑027 completo, más la ampliación del perfil y la comparación entre viajes. Sprint completo reservado para ese requerimiento.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04704" y="36027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pts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58368" y="4754880"/>
            <a:ext cx="10844784" cy="1115568"/>
          </a:xfrm>
          <a:prstGeom prst="roundRect">
            <a:avLst>
              <a:gd name="adj" fmla="val 7377"/>
            </a:avLst>
          </a:prstGeom>
          <a:solidFill>
            <a:srgbClr val="312B2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32688" y="49377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1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24‑oct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2395728" y="491032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9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2395728" y="526694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calidad, manual de usuario, pruebas de seguridad, despliegue y presentación final.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204704" y="4956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7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pts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6144768"/>
            <a:ext cx="10844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elementos diferidos son todos COULD y ninguno condiciona el contraste de las hipótesis.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2026-08-28T05:06:19Z</dcterms:created>
  <dcterms:modified xsi:type="dcterms:W3CDTF">2026-08-28T05:06:19Z</dcterms:modified>
</cp:coreProperties>
</file>