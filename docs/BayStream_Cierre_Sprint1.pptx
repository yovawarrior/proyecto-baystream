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Con carga propia</c:v>
                </c:pt>
              </c:strCache>
            </c:strRef>
          </c:tx>
          <c:spPr>
            <a:solidFill>
              <a:srgbClr val="065A82"/>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Sheet1!$A$2:$A$7</c:f>
              <c:multiLvlStrCache>
                <c:ptCount val="6"/>
                <c:lvl>
                  <c:pt idx="0">
                    <c:v>A01</c:v>
                  </c:pt>
                  <c:pt idx="1">
                    <c:v>A02</c:v>
                  </c:pt>
                  <c:pt idx="2">
                    <c:v>A03</c:v>
                  </c:pt>
                  <c:pt idx="3">
                    <c:v>A04</c:v>
                  </c:pt>
                  <c:pt idx="4">
                    <c:v>A05</c:v>
                  </c:pt>
                  <c:pt idx="5">
                    <c:v>A06</c:v>
                  </c:pt>
                </c:lvl>
              </c:multiLvlStrCache>
            </c:multiLvlStrRef>
          </c:cat>
          <c:val>
            <c:numRef>
              <c:f>Sheet1!$B$2:$B$7</c:f>
              <c:numCache>
                <c:formatCode>General</c:formatCode>
                <c:ptCount val="6"/>
                <c:pt idx="0">
                  <c:v>27</c:v>
                </c:pt>
                <c:pt idx="1">
                  <c:v>20</c:v>
                </c:pt>
                <c:pt idx="2">
                  <c:v>14</c:v>
                </c:pt>
                <c:pt idx="3">
                  <c:v>27</c:v>
                </c:pt>
                <c:pt idx="4">
                  <c:v>21</c:v>
                </c:pt>
                <c:pt idx="5">
                  <c:v>21</c:v>
                </c:pt>
              </c:numCache>
            </c:numRef>
          </c:val>
        </c:ser>
        <c:ser>
          <c:idx val="1"/>
          <c:order val="1"/>
          <c:tx>
            <c:strRef>
              <c:f>Sheet1!$C$1</c:f>
              <c:strCache>
                <c:ptCount val="1"/>
                <c:pt idx="0">
                  <c:v>Invisibles (solo carga vecina)</c:v>
                </c:pt>
              </c:strCache>
            </c:strRef>
          </c:tx>
          <c:spPr>
            <a:solidFill>
              <a:srgbClr val="B85042"/>
            </a:solidFill>
            <a:effectLst/>
          </c:spPr>
          <c:invertIfNegative val="0"/>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cat>
            <c:multiLvlStrRef>
              <c:f>Sheet1!$A$2:$A$7</c:f>
              <c:multiLvlStrCache>
                <c:ptCount val="6"/>
                <c:lvl>
                  <c:pt idx="0">
                    <c:v>A01</c:v>
                  </c:pt>
                  <c:pt idx="1">
                    <c:v>A02</c:v>
                  </c:pt>
                  <c:pt idx="2">
                    <c:v>A03</c:v>
                  </c:pt>
                  <c:pt idx="3">
                    <c:v>A04</c:v>
                  </c:pt>
                  <c:pt idx="4">
                    <c:v>A05</c:v>
                  </c:pt>
                  <c:pt idx="5">
                    <c:v>A06</c:v>
                  </c:pt>
                </c:lvl>
              </c:multiLvlStrCache>
            </c:multiLvlStrRef>
          </c:cat>
          <c:val>
            <c:numRef>
              <c:f>Sheet1!$C$2:$C$7</c:f>
              <c:numCache>
                <c:formatCode>General</c:formatCode>
                <c:ptCount val="6"/>
                <c:pt idx="0">
                  <c:v>7</c:v>
                </c:pt>
                <c:pt idx="1">
                  <c:v>10</c:v>
                </c:pt>
                <c:pt idx="2">
                  <c:v>13</c:v>
                </c:pt>
                <c:pt idx="3">
                  <c:v>7</c:v>
                </c:pt>
                <c:pt idx="4">
                  <c:v>6</c:v>
                </c:pt>
                <c:pt idx="5">
                  <c:v>6</c:v>
                </c:pt>
              </c:numCache>
            </c:numRef>
          </c:val>
        </c:ser>
        <c:dLbls>
          <c:numFmt formatCode="#,##0" sourceLinked="0"/>
          <c:txPr>
            <a:bodyPr/>
            <a:lstStyle/>
            <a:p>
              <a:pPr>
                <a:defRPr b="0" i="0" strike="noStrike" sz="1000" u="none">
                  <a:solidFill>
                    <a:srgbClr val="FFFFFF"/>
                  </a:solidFill>
                  <a:latin typeface="Arial"/>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A33"/>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C9D8E0"/>
              </a:solidFill>
              <a:prstDash val="solid"/>
              <a:round/>
            </a:ln>
          </c:spPr>
        </c:majorGridlines>
        <c:title>
          <c:tx>
            <c:rich>
              <a:bodyPr/>
              <a:lstStyle/>
              <a:p>
                <a:pPr>
                  <a:defRPr sz="1100" b="0" i="0" u="none" strike="noStrike">
                    <a:solidFill>
                      <a:srgbClr val="5B6B76"/>
                    </a:solidFill>
                    <a:latin typeface="Arial"/>
                  </a:defRPr>
                </a:pPr>
                <a:r>
                  <a:rPr sz="1100" b="0" i="0" u="none" strike="noStrike">
                    <a:solidFill>
                      <a:srgbClr val="5B6B76"/>
                    </a:solidFill>
                    <a:latin typeface="Arial"/>
                  </a:rPr>
                  <a:t>Bahías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6"/>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A33"/>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Portada: mencionar que este es el cierre técnico del Sprint 1, con foco en el contraste contra un plano real por primera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plano impreso del MIZAR es la primera referencia externa del proyecto. La nota al pie de Baplie Viewer explica por qué todo lo deducido del BAPLIE es una cota inferior.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hubo dos programadores en paralelo (Codex y Timonel) y que cada cierre que reportaron se verificó de forma independiente antes de aceptarse.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Repasar brevemente las nueve correcciones; no hace falta leer cada una, el tutor puede revisarlas en el documento completo.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hallazgos con mayor impacto numérico: refrigerados, EQD invertido y bahías invisibles.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Detallar la tabla LOC+5 si el tutor pregunta por el punto 2 de su retroalimentación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muestra cuánto del buque quedaba fuera del plano antes de esta corrección, especialmente en A03.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de mantener 34 bahías es una decisión de producto, no solo técnica — explicar el razonamiento si se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punto más importante para la evaluación: el proceso se corrigió a sí mismo tres veces, no solo a los programadores.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reafirmando que no hay pendientes bloqueantes y que los tres pendientes quedan documentados para el cierre de octubre.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0B2545"/>
          </a:solidFill>
          <a:ln/>
        </p:spPr>
      </p:sp>
      <p:sp>
        <p:nvSpPr>
          <p:cNvPr id="3" name="Shape 1"/>
          <p:cNvSpPr/>
          <p:nvPr/>
        </p:nvSpPr>
        <p:spPr>
          <a:xfrm>
            <a:off x="8778240" y="-2011680"/>
            <a:ext cx="5486400" cy="5486400"/>
          </a:xfrm>
          <a:prstGeom prst="ellipse">
            <a:avLst/>
          </a:prstGeom>
          <a:solidFill>
            <a:srgbClr val="065A82">
              <a:alpha val="45000"/>
            </a:srgbClr>
          </a:solidFill>
          <a:ln/>
        </p:spPr>
      </p:sp>
      <p:sp>
        <p:nvSpPr>
          <p:cNvPr id="4" name="Shape 2"/>
          <p:cNvSpPr/>
          <p:nvPr/>
        </p:nvSpPr>
        <p:spPr>
          <a:xfrm>
            <a:off x="10241280" y="4206240"/>
            <a:ext cx="3840480" cy="3840480"/>
          </a:xfrm>
          <a:prstGeom prst="ellipse">
            <a:avLst/>
          </a:prstGeom>
          <a:solidFill>
            <a:srgbClr val="1C7293">
              <a:alpha val="40000"/>
            </a:srgbClr>
          </a:solidFill>
          <a:ln/>
        </p:spPr>
      </p:sp>
      <p:sp>
        <p:nvSpPr>
          <p:cNvPr id="5" name="Text 3"/>
          <p:cNvSpPr txBox="1"/>
          <p:nvPr/>
        </p:nvSpPr>
        <p:spPr>
          <a:xfrm>
            <a:off x="640080" y="502920"/>
            <a:ext cx="9601200" cy="365760"/>
          </a:xfrm>
          <a:prstGeom prst="rect">
            <a:avLst/>
          </a:prstGeom>
          <a:noFill/>
          <a:ln/>
        </p:spPr>
        <p:txBody>
          <a:bodyPr wrap="square" lIns="0" tIns="0" rIns="0" bIns="0" rtlCol="0" anchor="ctr"/>
          <a:lstStyle/>
          <a:p>
            <a:pPr indent="0" marL="0">
              <a:buNone/>
            </a:pPr>
            <a:r>
              <a:rPr lang="en-US" sz="1200" spc="150" kern="0" dirty="0">
                <a:solidFill>
                  <a:srgbClr val="9FC1D9"/>
                </a:solidFill>
                <a:latin typeface="Arial" pitchFamily="34" charset="0"/>
                <a:ea typeface="Arial" pitchFamily="34" charset="-122"/>
                <a:cs typeface="Arial" pitchFamily="34" charset="-120"/>
              </a:rPr>
              <a:t>UNIVERSIDAD MARIANO GÁLVEZ DE GUATEMALA  ·  PROYECTO DE GRADUACIÓN II</a:t>
            </a:r>
            <a:endParaRPr lang="en-US" sz="1200" dirty="0"/>
          </a:p>
        </p:txBody>
      </p:sp>
      <p:sp>
        <p:nvSpPr>
          <p:cNvPr id="6" name="Text 4"/>
          <p:cNvSpPr txBox="1"/>
          <p:nvPr/>
        </p:nvSpPr>
        <p:spPr>
          <a:xfrm>
            <a:off x="640080" y="2286000"/>
            <a:ext cx="9875520" cy="118872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Cierre técnico del Sprint 1</a:t>
            </a:r>
            <a:endParaRPr lang="en-US" sz="4400" dirty="0"/>
          </a:p>
        </p:txBody>
      </p:sp>
      <p:sp>
        <p:nvSpPr>
          <p:cNvPr id="7" name="Text 5"/>
          <p:cNvSpPr txBox="1"/>
          <p:nvPr/>
        </p:nvSpPr>
        <p:spPr>
          <a:xfrm>
            <a:off x="640080" y="3246120"/>
            <a:ext cx="9875520" cy="548640"/>
          </a:xfrm>
          <a:prstGeom prst="rect">
            <a:avLst/>
          </a:prstGeom>
          <a:noFill/>
          <a:ln/>
        </p:spPr>
        <p:txBody>
          <a:bodyPr wrap="square" lIns="0" tIns="0" rIns="0" bIns="0" rtlCol="0" anchor="ctr"/>
          <a:lstStyle/>
          <a:p>
            <a:pPr indent="0" marL="0">
              <a:buNone/>
            </a:pPr>
            <a:r>
              <a:rPr lang="en-US" sz="2000" dirty="0">
                <a:solidFill>
                  <a:srgbClr val="CADCFC"/>
                </a:solidFill>
                <a:latin typeface="Arial" pitchFamily="34" charset="0"/>
                <a:ea typeface="Arial" pitchFamily="34" charset="-122"/>
                <a:cs typeface="Arial" pitchFamily="34" charset="-120"/>
              </a:rPr>
              <a:t>Verificación contra el plano real de BayStream</a:t>
            </a:r>
            <a:endParaRPr lang="en-US" sz="2000" dirty="0"/>
          </a:p>
        </p:txBody>
      </p:sp>
      <p:sp>
        <p:nvSpPr>
          <p:cNvPr id="8" name="Text 6"/>
          <p:cNvSpPr txBox="1"/>
          <p:nvPr/>
        </p:nvSpPr>
        <p:spPr>
          <a:xfrm>
            <a:off x="640080" y="3886200"/>
            <a:ext cx="7863840" cy="640080"/>
          </a:xfrm>
          <a:prstGeom prst="rect">
            <a:avLst/>
          </a:prstGeom>
          <a:noFill/>
          <a:ln/>
        </p:spPr>
        <p:txBody>
          <a:bodyPr wrap="square" lIns="0" tIns="0" rIns="0" bIns="0" rtlCol="0" anchor="ctr"/>
          <a:lstStyle/>
          <a:p>
            <a:pPr indent="0" marL="0">
              <a:buNone/>
            </a:pPr>
            <a:r>
              <a:rPr lang="en-US" sz="1300" i="1" dirty="0">
                <a:solidFill>
                  <a:srgbClr val="B9CBD9"/>
                </a:solidFill>
                <a:latin typeface="Arial" pitchFamily="34" charset="0"/>
                <a:ea typeface="Arial" pitchFamily="34" charset="-122"/>
                <a:cs typeface="Arial" pitchFamily="34" charset="-120"/>
              </a:rPr>
              <a:t>Segunda verificación independiente de las correcciones C‑1 a C‑7 y de los hallazgos posteriores, contrastada contra el corpus BAPLIE completo.</a:t>
            </a:r>
            <a:endParaRPr lang="en-US" sz="1300" dirty="0"/>
          </a:p>
        </p:txBody>
      </p:sp>
      <p:sp>
        <p:nvSpPr>
          <p:cNvPr id="9" name="Text 7"/>
          <p:cNvSpPr txBox="1"/>
          <p:nvPr/>
        </p:nvSpPr>
        <p:spPr>
          <a:xfrm>
            <a:off x="640080" y="5989320"/>
            <a:ext cx="7315200" cy="320040"/>
          </a:xfrm>
          <a:prstGeom prst="rect">
            <a:avLst/>
          </a:prstGeom>
          <a:noFill/>
          <a:ln/>
        </p:spPr>
        <p:txBody>
          <a:bodyPr wrap="square" lIns="0" tIns="0" rIns="0" bIns="0" rtlCol="0" anchor="ctr"/>
          <a:lstStyle/>
          <a:p>
            <a:pPr indent="0" marL="0">
              <a:buNone/>
            </a:pPr>
            <a:r>
              <a:rPr lang="en-US" sz="1300" dirty="0">
                <a:solidFill>
                  <a:srgbClr val="FFFFFF"/>
                </a:solidFill>
                <a:latin typeface="Arial" pitchFamily="34" charset="0"/>
                <a:ea typeface="Arial" pitchFamily="34" charset="-122"/>
                <a:cs typeface="Arial" pitchFamily="34" charset="-120"/>
              </a:rPr>
              <a:t>Carlos Giovanni Martínez Aldana  ·  Carné 0909‑22‑19157</a:t>
            </a:r>
            <a:endParaRPr lang="en-US" sz="1300" dirty="0"/>
          </a:p>
        </p:txBody>
      </p:sp>
      <p:sp>
        <p:nvSpPr>
          <p:cNvPr id="10" name="Text 8"/>
          <p:cNvSpPr txBox="1"/>
          <p:nvPr/>
        </p:nvSpPr>
        <p:spPr>
          <a:xfrm>
            <a:off x="640080" y="6291072"/>
            <a:ext cx="7315200" cy="320040"/>
          </a:xfrm>
          <a:prstGeom prst="rect">
            <a:avLst/>
          </a:prstGeom>
          <a:noFill/>
          <a:ln/>
        </p:spPr>
        <p:txBody>
          <a:bodyPr wrap="square" lIns="0" tIns="0" rIns="0" bIns="0" rtlCol="0" anchor="ctr"/>
          <a:lstStyle/>
          <a:p>
            <a:pPr indent="0" marL="0">
              <a:buNone/>
            </a:pPr>
            <a:r>
              <a:rPr lang="en-US" sz="1100" dirty="0">
                <a:solidFill>
                  <a:srgbClr val="9FC1D9"/>
                </a:solidFill>
                <a:latin typeface="Arial" pitchFamily="34" charset="0"/>
                <a:ea typeface="Arial" pitchFamily="34" charset="-122"/>
                <a:cs typeface="Arial" pitchFamily="34" charset="-120"/>
              </a:rPr>
              <a:t>Puerto Barrios, Izabal — 4 de septiembre de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65A82"/>
                </a:solidFill>
                <a:latin typeface="Arial" pitchFamily="34" charset="0"/>
                <a:ea typeface="Arial" pitchFamily="34" charset="-122"/>
                <a:cs typeface="Arial" pitchFamily="34" charset="-120"/>
              </a:rPr>
              <a:t>I. INTRODUCCIÓN</a:t>
            </a:r>
            <a:endParaRPr lang="en-US" sz="12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2800" b="1" dirty="0">
                <a:solidFill>
                  <a:srgbClr val="0B2545"/>
                </a:solidFill>
                <a:latin typeface="Arial" pitchFamily="34" charset="0"/>
                <a:ea typeface="Arial" pitchFamily="34" charset="-122"/>
                <a:cs typeface="Arial" pitchFamily="34" charset="-120"/>
              </a:rPr>
              <a:t>El contraste que faltaba: un plano real</a:t>
            </a:r>
            <a:endParaRPr lang="en-US" sz="2800" dirty="0"/>
          </a:p>
        </p:txBody>
      </p:sp>
      <p:sp>
        <p:nvSpPr>
          <p:cNvPr id="4" name="Text 2"/>
          <p:cNvSpPr txBox="1"/>
          <p:nvPr/>
        </p:nvSpPr>
        <p:spPr>
          <a:xfrm>
            <a:off x="548640" y="1600200"/>
            <a:ext cx="6309360" cy="1371600"/>
          </a:xfrm>
          <a:prstGeom prst="rect">
            <a:avLst/>
          </a:prstGeom>
          <a:noFill/>
          <a:ln/>
        </p:spPr>
        <p:txBody>
          <a:bodyPr wrap="square" lIns="0" tIns="0" rIns="0" bIns="0" rtlCol="0" anchor="t"/>
          <a:lstStyle/>
          <a:p>
            <a:pPr indent="0" marL="0">
              <a:lnSpc>
                <a:spcPct val="125000"/>
              </a:lnSpc>
              <a:buNone/>
            </a:pPr>
            <a:r>
              <a:rPr lang="en-US" sz="1500" b="1" dirty="0">
                <a:solidFill>
                  <a:srgbClr val="065A82"/>
                </a:solidFill>
                <a:latin typeface="Arial" pitchFamily="34" charset="0"/>
                <a:ea typeface="Arial" pitchFamily="34" charset="-122"/>
                <a:cs typeface="Arial" pitchFamily="34" charset="-120"/>
              </a:rPr>
              <a:t>El 31 de agosto de 2026</a:t>
            </a:r>
            <a:pPr indent="0" marL="0">
              <a:lnSpc>
                <a:spcPct val="125000"/>
              </a:lnSpc>
              <a:buNone/>
            </a:pPr>
            <a:r>
              <a:rPr lang="en-US" sz="1500" dirty="0">
                <a:solidFill>
                  <a:srgbClr val="1F2A33"/>
                </a:solidFill>
                <a:latin typeface="Arial" pitchFamily="34" charset="0"/>
                <a:ea typeface="Arial" pitchFamily="34" charset="-122"/>
                <a:cs typeface="Arial" pitchFamily="34" charset="-120"/>
              </a:rPr>
              <a:t>, durante una operación real en Puerto Santo Tomás de Castilla, se fotografió el </a:t>
            </a:r>
            <a:pPr indent="0" marL="0">
              <a:lnSpc>
                <a:spcPct val="125000"/>
              </a:lnSpc>
              <a:buNone/>
            </a:pPr>
            <a:r>
              <a:rPr lang="en-US" sz="1500" b="1" dirty="0">
                <a:solidFill>
                  <a:srgbClr val="1F2A33"/>
                </a:solidFill>
                <a:latin typeface="Arial" pitchFamily="34" charset="0"/>
                <a:ea typeface="Arial" pitchFamily="34" charset="-122"/>
                <a:cs typeface="Arial" pitchFamily="34" charset="-120"/>
              </a:rPr>
              <a:t>plano de carga impreso del buque MIZAR (viaje 260345)</a:t>
            </a:r>
            <a:pPr indent="0" marL="0">
              <a:lnSpc>
                <a:spcPct val="125000"/>
              </a:lnSpc>
              <a:buNone/>
            </a:pPr>
            <a:r>
              <a:rPr lang="en-US" sz="1500" dirty="0">
                <a:solidFill>
                  <a:srgbClr val="1F2A33"/>
                </a:solidFill>
                <a:latin typeface="Arial" pitchFamily="34" charset="0"/>
                <a:ea typeface="Arial" pitchFamily="34" charset="-122"/>
                <a:cs typeface="Arial" pitchFamily="34" charset="-120"/>
              </a:rPr>
              <a:t>, generado por Baplie Viewer.</a:t>
            </a:r>
            <a:endParaRPr lang="en-US" sz="1500" dirty="0"/>
          </a:p>
        </p:txBody>
      </p:sp>
      <p:sp>
        <p:nvSpPr>
          <p:cNvPr id="5" name="Text 3"/>
          <p:cNvSpPr txBox="1"/>
          <p:nvPr/>
        </p:nvSpPr>
        <p:spPr>
          <a:xfrm>
            <a:off x="548640" y="2971800"/>
            <a:ext cx="6309360" cy="1188720"/>
          </a:xfrm>
          <a:prstGeom prst="rect">
            <a:avLst/>
          </a:prstGeom>
          <a:noFill/>
          <a:ln/>
        </p:spPr>
        <p:txBody>
          <a:bodyPr wrap="square" lIns="0" tIns="0" rIns="0" bIns="0" rtlCol="0" anchor="ctr"/>
          <a:lstStyle/>
          <a:p>
            <a:pPr indent="0" marL="0">
              <a:lnSpc>
                <a:spcPct val="125000"/>
              </a:lnSpc>
              <a:buNone/>
            </a:pPr>
            <a:r>
              <a:rPr lang="en-US" sz="1300" dirty="0">
                <a:solidFill>
                  <a:srgbClr val="5B6B76"/>
                </a:solidFill>
                <a:latin typeface="Arial" pitchFamily="34" charset="0"/>
                <a:ea typeface="Arial" pitchFamily="34" charset="-122"/>
                <a:cs typeface="Arial" pitchFamily="34" charset="-120"/>
              </a:rPr>
              <a:t>Hasta entonces, el plano de BayStream se había diseñado por deducción del estándar EDIFACT, sin un caso real de contraste. Este documento es el resumen de esa segunda verificación para la revisión con el tutor.</a:t>
            </a:r>
            <a:endParaRPr lang="en-US" sz="1300" dirty="0"/>
          </a:p>
        </p:txBody>
      </p:sp>
      <p:sp>
        <p:nvSpPr>
          <p:cNvPr id="6" name="Shape 4"/>
          <p:cNvSpPr/>
          <p:nvPr/>
        </p:nvSpPr>
        <p:spPr>
          <a:xfrm>
            <a:off x="7178040" y="1600200"/>
            <a:ext cx="4480560" cy="3246120"/>
          </a:xfrm>
          <a:prstGeom prst="roundRect">
            <a:avLst>
              <a:gd name="adj" fmla="val 3380"/>
            </a:avLst>
          </a:prstGeom>
          <a:solidFill>
            <a:srgbClr val="EAF3F8"/>
          </a:solidFill>
          <a:ln w="12700">
            <a:solidFill>
              <a:srgbClr val="C9D8E0"/>
            </a:solidFill>
            <a:prstDash val="solid"/>
          </a:ln>
          <a:effectLst>
            <a:outerShdw sx="100000" sy="100000" kx="0" ky="0" algn="bl" rotWithShape="0" blurRad="127000" dist="38100" dir="5400000">
              <a:srgbClr val="3B4A54">
                <a:alpha val="18000"/>
              </a:srgbClr>
            </a:outerShdw>
          </a:effectLst>
        </p:spPr>
      </p:sp>
      <p:sp>
        <p:nvSpPr>
          <p:cNvPr id="7" name="Text 5"/>
          <p:cNvSpPr txBox="1"/>
          <p:nvPr/>
        </p:nvSpPr>
        <p:spPr>
          <a:xfrm>
            <a:off x="7452360" y="1828800"/>
            <a:ext cx="3931920" cy="274320"/>
          </a:xfrm>
          <a:prstGeom prst="rect">
            <a:avLst/>
          </a:prstGeom>
          <a:noFill/>
          <a:ln/>
        </p:spPr>
        <p:txBody>
          <a:bodyPr wrap="square" lIns="0" tIns="0" rIns="0" bIns="0" rtlCol="0" anchor="ctr"/>
          <a:lstStyle/>
          <a:p>
            <a:pPr indent="0" marL="0">
              <a:buNone/>
            </a:pPr>
            <a:r>
              <a:rPr lang="en-US" sz="1100" b="1" spc="150" kern="0" dirty="0">
                <a:solidFill>
                  <a:srgbClr val="1C7293"/>
                </a:solidFill>
                <a:latin typeface="Arial" pitchFamily="34" charset="0"/>
                <a:ea typeface="Arial" pitchFamily="34" charset="-122"/>
                <a:cs typeface="Arial" pitchFamily="34" charset="-120"/>
              </a:rPr>
              <a:t>LA NOTA AL PIE QUE GOBIERNA TODO</a:t>
            </a:r>
            <a:endParaRPr lang="en-US" sz="1100" dirty="0"/>
          </a:p>
        </p:txBody>
      </p:sp>
      <p:sp>
        <p:nvSpPr>
          <p:cNvPr id="8" name="Text 6"/>
          <p:cNvSpPr txBox="1"/>
          <p:nvPr/>
        </p:nvSpPr>
        <p:spPr>
          <a:xfrm>
            <a:off x="7452360" y="2148840"/>
            <a:ext cx="3931920" cy="1051560"/>
          </a:xfrm>
          <a:prstGeom prst="rect">
            <a:avLst/>
          </a:prstGeom>
          <a:noFill/>
          <a:ln/>
        </p:spPr>
        <p:txBody>
          <a:bodyPr wrap="square" lIns="0" tIns="0" rIns="0" bIns="0" rtlCol="0" anchor="ctr"/>
          <a:lstStyle/>
          <a:p>
            <a:pPr indent="0" marL="0">
              <a:lnSpc>
                <a:spcPct val="120000"/>
              </a:lnSpc>
              <a:buNone/>
            </a:pPr>
            <a:r>
              <a:rPr lang="en-US" sz="1400" b="1" i="1" dirty="0">
                <a:solidFill>
                  <a:srgbClr val="0B2545"/>
                </a:solidFill>
                <a:latin typeface="Arial" pitchFamily="34" charset="0"/>
                <a:ea typeface="Arial" pitchFamily="34" charset="-122"/>
                <a:cs typeface="Arial" pitchFamily="34" charset="-120"/>
              </a:rPr>
              <a:t>«Baplie Viewer is not aware of vessel's dimensions. It shows occupied slots on board the vessel.»</a:t>
            </a:r>
            <a:endParaRPr lang="en-US" sz="1400" dirty="0"/>
          </a:p>
        </p:txBody>
      </p:sp>
      <p:sp>
        <p:nvSpPr>
          <p:cNvPr id="9" name="Text 7"/>
          <p:cNvSpPr txBox="1"/>
          <p:nvPr/>
        </p:nvSpPr>
        <p:spPr>
          <a:xfrm>
            <a:off x="7452360" y="3337560"/>
            <a:ext cx="3931920" cy="914400"/>
          </a:xfrm>
          <a:prstGeom prst="rect">
            <a:avLst/>
          </a:prstGeom>
          <a:noFill/>
          <a:ln/>
        </p:spPr>
        <p:txBody>
          <a:bodyPr wrap="square" lIns="0" tIns="0" rIns="0" bIns="0" rtlCol="0" anchor="ctr"/>
          <a:lstStyle/>
          <a:p>
            <a:pPr indent="0" marL="0">
              <a:lnSpc>
                <a:spcPct val="120000"/>
              </a:lnSpc>
              <a:buNone/>
            </a:pPr>
            <a:r>
              <a:rPr lang="en-US" sz="1200" dirty="0">
                <a:solidFill>
                  <a:srgbClr val="1F2A33"/>
                </a:solidFill>
                <a:latin typeface="Arial" pitchFamily="34" charset="0"/>
                <a:ea typeface="Arial" pitchFamily="34" charset="-122"/>
                <a:cs typeface="Arial" pitchFamily="34" charset="-120"/>
              </a:rPr>
              <a:t>El archivo BAPLIE no transmite la geometría del buque; solo dice qué posiciones están ocupadas. Por eso cada dato deducido del archivo es, por construcción, una </a:t>
            </a:r>
            <a:endParaRPr lang="en-US" sz="1200" dirty="0"/>
          </a:p>
        </p:txBody>
      </p:sp>
      <p:sp>
        <p:nvSpPr>
          <p:cNvPr id="10" name="Text 8"/>
          <p:cNvSpPr txBox="1"/>
          <p:nvPr/>
        </p:nvSpPr>
        <p:spPr>
          <a:xfrm>
            <a:off x="7452360" y="4160520"/>
            <a:ext cx="3931920" cy="320040"/>
          </a:xfrm>
          <a:prstGeom prst="rect">
            <a:avLst/>
          </a:prstGeom>
          <a:noFill/>
          <a:ln/>
        </p:spPr>
        <p:txBody>
          <a:bodyPr wrap="square" lIns="0" tIns="0" rIns="0" bIns="0" rtlCol="0" anchor="ctr"/>
          <a:lstStyle/>
          <a:p>
            <a:pPr indent="0" marL="0">
              <a:buNone/>
            </a:pPr>
            <a:r>
              <a:rPr lang="en-US" sz="1300" b="1" dirty="0">
                <a:solidFill>
                  <a:srgbClr val="B85042"/>
                </a:solidFill>
                <a:latin typeface="Arial" pitchFamily="34" charset="0"/>
                <a:ea typeface="Arial" pitchFamily="34" charset="-122"/>
                <a:cs typeface="Arial" pitchFamily="34" charset="-120"/>
              </a:rPr>
              <a:t>COTA INFERIOR, NUNCA UNA MEDICIÓN</a:t>
            </a:r>
            <a:endParaRPr lang="en-US" sz="1300" dirty="0"/>
          </a:p>
        </p:txBody>
      </p:sp>
      <p:sp>
        <p:nvSpPr>
          <p:cNvPr id="11" name="Text 9"/>
          <p:cNvSpPr txBox="1"/>
          <p:nvPr/>
        </p:nvSpPr>
        <p:spPr>
          <a:xfrm>
            <a:off x="7452360" y="4480560"/>
            <a:ext cx="3931920" cy="685800"/>
          </a:xfrm>
          <a:prstGeom prst="rect">
            <a:avLst/>
          </a:prstGeom>
          <a:noFill/>
          <a:ln/>
        </p:spPr>
        <p:txBody>
          <a:bodyPr wrap="square" lIns="0" tIns="0" rIns="0" bIns="0" rtlCol="0" anchor="ctr"/>
          <a:lstStyle/>
          <a:p>
            <a:pPr indent="0" marL="0">
              <a:lnSpc>
                <a:spcPct val="115000"/>
              </a:lnSpc>
              <a:buNone/>
            </a:pPr>
            <a:r>
              <a:rPr lang="en-US" sz="1150" i="1" dirty="0">
                <a:solidFill>
                  <a:srgbClr val="5B6B76"/>
                </a:solidFill>
                <a:latin typeface="Arial" pitchFamily="34" charset="0"/>
                <a:ea typeface="Arial" pitchFamily="34" charset="-122"/>
                <a:cs typeface="Arial" pitchFamily="34" charset="-120"/>
              </a:rPr>
              <a:t>— un buque de trece filas que en un viaje concreto carga en diez se ve, desde el archivo, como un buque de diez filas.</a:t>
            </a:r>
            <a:endParaRPr lang="en-US" sz="1150" dirty="0"/>
          </a:p>
        </p:txBody>
      </p:sp>
      <p:sp>
        <p:nvSpPr>
          <p:cNvPr id="12" name="Text 10"/>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B6B76"/>
                </a:solidFill>
                <a:latin typeface="Arial" pitchFamily="34" charset="0"/>
                <a:ea typeface="Arial" pitchFamily="34" charset="-122"/>
                <a:cs typeface="Arial"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65A82"/>
                </a:solidFill>
                <a:latin typeface="Arial" pitchFamily="34" charset="0"/>
                <a:ea typeface="Arial" pitchFamily="34" charset="-122"/>
                <a:cs typeface="Arial" pitchFamily="34" charset="-120"/>
              </a:rPr>
              <a:t>I. INTRODUCCIÓN</a:t>
            </a:r>
            <a:endParaRPr lang="en-US" sz="12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2800" b="1" dirty="0">
                <a:solidFill>
                  <a:srgbClr val="0B2545"/>
                </a:solidFill>
                <a:latin typeface="Arial" pitchFamily="34" charset="0"/>
                <a:ea typeface="Arial" pitchFamily="34" charset="-122"/>
                <a:cs typeface="Arial" pitchFamily="34" charset="-120"/>
              </a:rPr>
              <a:t>Metodología: nada se acepta sin reproducirse</a:t>
            </a:r>
            <a:endParaRPr lang="en-US" sz="2800" dirty="0"/>
          </a:p>
        </p:txBody>
      </p:sp>
      <p:sp>
        <p:nvSpPr>
          <p:cNvPr id="4" name="Shape 2"/>
          <p:cNvSpPr/>
          <p:nvPr/>
        </p:nvSpPr>
        <p:spPr>
          <a:xfrm>
            <a:off x="548640" y="1737360"/>
            <a:ext cx="3520440" cy="1965960"/>
          </a:xfrm>
          <a:prstGeom prst="roundRect">
            <a:avLst>
              <a:gd name="adj" fmla="val 4651"/>
            </a:avLst>
          </a:prstGeom>
          <a:solidFill>
            <a:srgbClr val="EAF3F8"/>
          </a:solidFill>
          <a:ln w="12700">
            <a:solidFill>
              <a:srgbClr val="C9D8E0"/>
            </a:solidFill>
            <a:prstDash val="solid"/>
          </a:ln>
        </p:spPr>
      </p:sp>
      <p:sp>
        <p:nvSpPr>
          <p:cNvPr id="5" name="Shape 3"/>
          <p:cNvSpPr/>
          <p:nvPr/>
        </p:nvSpPr>
        <p:spPr>
          <a:xfrm>
            <a:off x="822960" y="2011680"/>
            <a:ext cx="640080" cy="640080"/>
          </a:xfrm>
          <a:prstGeom prst="ellipse">
            <a:avLst/>
          </a:prstGeom>
          <a:solidFill>
            <a:srgbClr val="065A82"/>
          </a:solidFill>
          <a:ln/>
        </p:spPr>
      </p:sp>
      <p:sp>
        <p:nvSpPr>
          <p:cNvPr id="6" name="Text 4"/>
          <p:cNvSpPr txBox="1"/>
          <p:nvPr/>
        </p:nvSpPr>
        <p:spPr>
          <a:xfrm>
            <a:off x="822960"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Text 5"/>
          <p:cNvSpPr txBox="1"/>
          <p:nvPr/>
        </p:nvSpPr>
        <p:spPr>
          <a:xfrm>
            <a:off x="777240" y="2743200"/>
            <a:ext cx="3063240" cy="320040"/>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Capitán Codex</a:t>
            </a:r>
            <a:endParaRPr lang="en-US" sz="1700" dirty="0"/>
          </a:p>
        </p:txBody>
      </p:sp>
      <p:sp>
        <p:nvSpPr>
          <p:cNvPr id="8" name="Text 6"/>
          <p:cNvSpPr txBox="1"/>
          <p:nvPr/>
        </p:nvSpPr>
        <p:spPr>
          <a:xfrm>
            <a:off x="777240" y="3063240"/>
            <a:ext cx="3063240" cy="274320"/>
          </a:xfrm>
          <a:prstGeom prst="rect">
            <a:avLst/>
          </a:prstGeom>
          <a:noFill/>
          <a:ln/>
        </p:spPr>
        <p:txBody>
          <a:bodyPr wrap="square" lIns="0" tIns="0" rIns="0" bIns="0" rtlCol="0" anchor="ctr"/>
          <a:lstStyle/>
          <a:p>
            <a:pPr indent="0" marL="0">
              <a:buNone/>
            </a:pPr>
            <a:r>
              <a:rPr lang="en-US" sz="1200" i="1" dirty="0">
                <a:solidFill>
                  <a:srgbClr val="5B6B76"/>
                </a:solidFill>
                <a:latin typeface="Arial" pitchFamily="34" charset="0"/>
                <a:ea typeface="Arial" pitchFamily="34" charset="-122"/>
                <a:cs typeface="Arial" pitchFamily="34" charset="-120"/>
              </a:rPr>
              <a:t>OpenAI Codex</a:t>
            </a:r>
            <a:endParaRPr lang="en-US" sz="1200" dirty="0"/>
          </a:p>
        </p:txBody>
      </p:sp>
      <p:sp>
        <p:nvSpPr>
          <p:cNvPr id="9" name="Text 7"/>
          <p:cNvSpPr txBox="1"/>
          <p:nvPr/>
        </p:nvSpPr>
        <p:spPr>
          <a:xfrm>
            <a:off x="777240" y="3337560"/>
            <a:ext cx="3063240" cy="274320"/>
          </a:xfrm>
          <a:prstGeom prst="rect">
            <a:avLst/>
          </a:prstGeom>
          <a:noFill/>
          <a:ln/>
        </p:spPr>
        <p:txBody>
          <a:bodyPr wrap="square" lIns="0" tIns="0" rIns="0" bIns="0" rtlCol="0" anchor="ctr"/>
          <a:lstStyle/>
          <a:p>
            <a:pPr indent="0" marL="0">
              <a:buNone/>
            </a:pPr>
            <a:r>
              <a:rPr lang="en-US" sz="1150" b="1" dirty="0">
                <a:solidFill>
                  <a:srgbClr val="065A82"/>
                </a:solidFill>
                <a:latin typeface="Arial" pitchFamily="34" charset="0"/>
                <a:ea typeface="Arial" pitchFamily="34" charset="-122"/>
                <a:cs typeface="Arial" pitchFamily="34" charset="-120"/>
              </a:rPr>
              <a:t>Implementación</a:t>
            </a:r>
            <a:endParaRPr lang="en-US" sz="1150" dirty="0"/>
          </a:p>
        </p:txBody>
      </p:sp>
      <p:sp>
        <p:nvSpPr>
          <p:cNvPr id="10" name="Shape 8"/>
          <p:cNvSpPr/>
          <p:nvPr/>
        </p:nvSpPr>
        <p:spPr>
          <a:xfrm>
            <a:off x="4389120" y="1737360"/>
            <a:ext cx="3520440" cy="1965960"/>
          </a:xfrm>
          <a:prstGeom prst="roundRect">
            <a:avLst>
              <a:gd name="adj" fmla="val 4651"/>
            </a:avLst>
          </a:prstGeom>
          <a:solidFill>
            <a:srgbClr val="EAF3F8"/>
          </a:solidFill>
          <a:ln w="12700">
            <a:solidFill>
              <a:srgbClr val="C9D8E0"/>
            </a:solidFill>
            <a:prstDash val="solid"/>
          </a:ln>
        </p:spPr>
      </p:sp>
      <p:sp>
        <p:nvSpPr>
          <p:cNvPr id="11" name="Shape 9"/>
          <p:cNvSpPr/>
          <p:nvPr/>
        </p:nvSpPr>
        <p:spPr>
          <a:xfrm>
            <a:off x="4663440" y="2011680"/>
            <a:ext cx="640080" cy="640080"/>
          </a:xfrm>
          <a:prstGeom prst="ellipse">
            <a:avLst/>
          </a:prstGeom>
          <a:solidFill>
            <a:srgbClr val="1C7293"/>
          </a:solidFill>
          <a:ln/>
        </p:spPr>
      </p:sp>
      <p:sp>
        <p:nvSpPr>
          <p:cNvPr id="12" name="Text 10"/>
          <p:cNvSpPr txBox="1"/>
          <p:nvPr/>
        </p:nvSpPr>
        <p:spPr>
          <a:xfrm>
            <a:off x="4663440"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3" name="Text 11"/>
          <p:cNvSpPr txBox="1"/>
          <p:nvPr/>
        </p:nvSpPr>
        <p:spPr>
          <a:xfrm>
            <a:off x="4617720" y="2743200"/>
            <a:ext cx="3063240" cy="320040"/>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Timonel</a:t>
            </a:r>
            <a:endParaRPr lang="en-US" sz="1700" dirty="0"/>
          </a:p>
        </p:txBody>
      </p:sp>
      <p:sp>
        <p:nvSpPr>
          <p:cNvPr id="14" name="Text 12"/>
          <p:cNvSpPr txBox="1"/>
          <p:nvPr/>
        </p:nvSpPr>
        <p:spPr>
          <a:xfrm>
            <a:off x="4617720" y="3063240"/>
            <a:ext cx="3063240" cy="274320"/>
          </a:xfrm>
          <a:prstGeom prst="rect">
            <a:avLst/>
          </a:prstGeom>
          <a:noFill/>
          <a:ln/>
        </p:spPr>
        <p:txBody>
          <a:bodyPr wrap="square" lIns="0" tIns="0" rIns="0" bIns="0" rtlCol="0" anchor="ctr"/>
          <a:lstStyle/>
          <a:p>
            <a:pPr indent="0" marL="0">
              <a:buNone/>
            </a:pPr>
            <a:r>
              <a:rPr lang="en-US" sz="1200" i="1" dirty="0">
                <a:solidFill>
                  <a:srgbClr val="5B6B76"/>
                </a:solidFill>
                <a:latin typeface="Arial" pitchFamily="34" charset="0"/>
                <a:ea typeface="Arial" pitchFamily="34" charset="-122"/>
                <a:cs typeface="Arial" pitchFamily="34" charset="-120"/>
              </a:rPr>
              <a:t>Claude Code</a:t>
            </a:r>
            <a:endParaRPr lang="en-US" sz="1200" dirty="0"/>
          </a:p>
        </p:txBody>
      </p:sp>
      <p:sp>
        <p:nvSpPr>
          <p:cNvPr id="15" name="Text 13"/>
          <p:cNvSpPr txBox="1"/>
          <p:nvPr/>
        </p:nvSpPr>
        <p:spPr>
          <a:xfrm>
            <a:off x="4617720" y="3337560"/>
            <a:ext cx="3063240" cy="274320"/>
          </a:xfrm>
          <a:prstGeom prst="rect">
            <a:avLst/>
          </a:prstGeom>
          <a:noFill/>
          <a:ln/>
        </p:spPr>
        <p:txBody>
          <a:bodyPr wrap="square" lIns="0" tIns="0" rIns="0" bIns="0" rtlCol="0" anchor="ctr"/>
          <a:lstStyle/>
          <a:p>
            <a:pPr indent="0" marL="0">
              <a:buNone/>
            </a:pPr>
            <a:r>
              <a:rPr lang="en-US" sz="1150" b="1" dirty="0">
                <a:solidFill>
                  <a:srgbClr val="1C7293"/>
                </a:solidFill>
                <a:latin typeface="Arial" pitchFamily="34" charset="0"/>
                <a:ea typeface="Arial" pitchFamily="34" charset="-122"/>
                <a:cs typeface="Arial" pitchFamily="34" charset="-120"/>
              </a:rPr>
              <a:t>Implementación</a:t>
            </a:r>
            <a:endParaRPr lang="en-US" sz="1150" dirty="0"/>
          </a:p>
        </p:txBody>
      </p:sp>
      <p:sp>
        <p:nvSpPr>
          <p:cNvPr id="16" name="Shape 14"/>
          <p:cNvSpPr/>
          <p:nvPr/>
        </p:nvSpPr>
        <p:spPr>
          <a:xfrm>
            <a:off x="8229600" y="1737360"/>
            <a:ext cx="3520440" cy="1965960"/>
          </a:xfrm>
          <a:prstGeom prst="roundRect">
            <a:avLst>
              <a:gd name="adj" fmla="val 4651"/>
            </a:avLst>
          </a:prstGeom>
          <a:solidFill>
            <a:srgbClr val="EAF3F8"/>
          </a:solidFill>
          <a:ln w="12700">
            <a:solidFill>
              <a:srgbClr val="C9D8E0"/>
            </a:solidFill>
            <a:prstDash val="solid"/>
          </a:ln>
        </p:spPr>
      </p:sp>
      <p:sp>
        <p:nvSpPr>
          <p:cNvPr id="17" name="Shape 15"/>
          <p:cNvSpPr/>
          <p:nvPr/>
        </p:nvSpPr>
        <p:spPr>
          <a:xfrm>
            <a:off x="8503920" y="2011680"/>
            <a:ext cx="640080" cy="640080"/>
          </a:xfrm>
          <a:prstGeom prst="ellipse">
            <a:avLst/>
          </a:prstGeom>
          <a:solidFill>
            <a:srgbClr val="0B2545"/>
          </a:solidFill>
          <a:ln/>
        </p:spPr>
      </p:sp>
      <p:sp>
        <p:nvSpPr>
          <p:cNvPr id="18" name="Text 16"/>
          <p:cNvSpPr txBox="1"/>
          <p:nvPr/>
        </p:nvSpPr>
        <p:spPr>
          <a:xfrm>
            <a:off x="8503920" y="2011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9" name="Text 17"/>
          <p:cNvSpPr txBox="1"/>
          <p:nvPr/>
        </p:nvSpPr>
        <p:spPr>
          <a:xfrm>
            <a:off x="8458200" y="2743200"/>
            <a:ext cx="3063240" cy="320040"/>
          </a:xfrm>
          <a:prstGeom prst="rect">
            <a:avLst/>
          </a:prstGeom>
          <a:noFill/>
          <a:ln/>
        </p:spPr>
        <p:txBody>
          <a:bodyPr wrap="square" lIns="0" tIns="0" rIns="0" bIns="0" rtlCol="0" anchor="ctr"/>
          <a:lstStyle/>
          <a:p>
            <a:pPr indent="0" marL="0">
              <a:buNone/>
            </a:pPr>
            <a:r>
              <a:rPr lang="en-US" sz="1700" b="1" dirty="0">
                <a:solidFill>
                  <a:srgbClr val="0B2545"/>
                </a:solidFill>
                <a:latin typeface="Arial" pitchFamily="34" charset="0"/>
                <a:ea typeface="Arial" pitchFamily="34" charset="-122"/>
                <a:cs typeface="Arial" pitchFamily="34" charset="-120"/>
              </a:rPr>
              <a:t>Yov</a:t>
            </a:r>
            <a:endParaRPr lang="en-US" sz="1700" dirty="0"/>
          </a:p>
        </p:txBody>
      </p:sp>
      <p:sp>
        <p:nvSpPr>
          <p:cNvPr id="20" name="Text 18"/>
          <p:cNvSpPr txBox="1"/>
          <p:nvPr/>
        </p:nvSpPr>
        <p:spPr>
          <a:xfrm>
            <a:off x="8458200" y="3063240"/>
            <a:ext cx="3063240" cy="274320"/>
          </a:xfrm>
          <a:prstGeom prst="rect">
            <a:avLst/>
          </a:prstGeom>
          <a:noFill/>
          <a:ln/>
        </p:spPr>
        <p:txBody>
          <a:bodyPr wrap="square" lIns="0" tIns="0" rIns="0" bIns="0" rtlCol="0" anchor="ctr"/>
          <a:lstStyle/>
          <a:p>
            <a:pPr indent="0" marL="0">
              <a:buNone/>
            </a:pPr>
            <a:r>
              <a:rPr lang="en-US" sz="1200" i="1" dirty="0">
                <a:solidFill>
                  <a:srgbClr val="5B6B76"/>
                </a:solidFill>
                <a:latin typeface="Arial" pitchFamily="34" charset="0"/>
                <a:ea typeface="Arial" pitchFamily="34" charset="-122"/>
                <a:cs typeface="Arial" pitchFamily="34" charset="-120"/>
              </a:rPr>
              <a:t>Claude en Cowork</a:t>
            </a:r>
            <a:endParaRPr lang="en-US" sz="1200" dirty="0"/>
          </a:p>
        </p:txBody>
      </p:sp>
      <p:sp>
        <p:nvSpPr>
          <p:cNvPr id="21" name="Text 19"/>
          <p:cNvSpPr txBox="1"/>
          <p:nvPr/>
        </p:nvSpPr>
        <p:spPr>
          <a:xfrm>
            <a:off x="8458200" y="3337560"/>
            <a:ext cx="3063240" cy="274320"/>
          </a:xfrm>
          <a:prstGeom prst="rect">
            <a:avLst/>
          </a:prstGeom>
          <a:noFill/>
          <a:ln/>
        </p:spPr>
        <p:txBody>
          <a:bodyPr wrap="square" lIns="0" tIns="0" rIns="0" bIns="0" rtlCol="0" anchor="ctr"/>
          <a:lstStyle/>
          <a:p>
            <a:pPr indent="0" marL="0">
              <a:buNone/>
            </a:pPr>
            <a:r>
              <a:rPr lang="en-US" sz="1150" b="1" dirty="0">
                <a:solidFill>
                  <a:srgbClr val="0B2545"/>
                </a:solidFill>
                <a:latin typeface="Arial" pitchFamily="34" charset="0"/>
                <a:ea typeface="Arial" pitchFamily="34" charset="-122"/>
                <a:cs typeface="Arial" pitchFamily="34" charset="-120"/>
              </a:rPr>
              <a:t>Verificación y documentación</a:t>
            </a:r>
            <a:endParaRPr lang="en-US" sz="1150" dirty="0"/>
          </a:p>
        </p:txBody>
      </p:sp>
      <p:sp>
        <p:nvSpPr>
          <p:cNvPr id="22" name="Shape 20"/>
          <p:cNvSpPr/>
          <p:nvPr/>
        </p:nvSpPr>
        <p:spPr>
          <a:xfrm>
            <a:off x="548640" y="4023360"/>
            <a:ext cx="11109960" cy="1965960"/>
          </a:xfrm>
          <a:prstGeom prst="roundRect">
            <a:avLst>
              <a:gd name="adj" fmla="val 4651"/>
            </a:avLst>
          </a:prstGeom>
          <a:solidFill>
            <a:srgbClr val="065A82"/>
          </a:solidFill>
          <a:ln/>
        </p:spPr>
      </p:sp>
      <p:sp>
        <p:nvSpPr>
          <p:cNvPr id="23" name="Text 21"/>
          <p:cNvSpPr txBox="1"/>
          <p:nvPr/>
        </p:nvSpPr>
        <p:spPr>
          <a:xfrm>
            <a:off x="914400" y="4251960"/>
            <a:ext cx="10058400" cy="320040"/>
          </a:xfrm>
          <a:prstGeom prst="rect">
            <a:avLst/>
          </a:prstGeom>
          <a:noFill/>
          <a:ln/>
        </p:spPr>
        <p:txBody>
          <a:bodyPr wrap="square" lIns="0" tIns="0" rIns="0" bIns="0" rtlCol="0" anchor="ctr"/>
          <a:lstStyle/>
          <a:p>
            <a:pPr indent="0" marL="0">
              <a:buNone/>
            </a:pPr>
            <a:r>
              <a:rPr lang="en-US" sz="1200" b="1" spc="150" kern="0" dirty="0">
                <a:solidFill>
                  <a:srgbClr val="9FC1D9"/>
                </a:solidFill>
                <a:latin typeface="Arial" pitchFamily="34" charset="0"/>
                <a:ea typeface="Arial" pitchFamily="34" charset="-122"/>
                <a:cs typeface="Arial" pitchFamily="34" charset="-120"/>
              </a:rPr>
              <a:t>LA REGLA DE ORO DEL PROCESO</a:t>
            </a:r>
            <a:endParaRPr lang="en-US" sz="1200" dirty="0"/>
          </a:p>
        </p:txBody>
      </p:sp>
      <p:sp>
        <p:nvSpPr>
          <p:cNvPr id="24" name="Text 22"/>
          <p:cNvSpPr txBox="1"/>
          <p:nvPr/>
        </p:nvSpPr>
        <p:spPr>
          <a:xfrm>
            <a:off x="914400" y="4617720"/>
            <a:ext cx="10378440" cy="1234440"/>
          </a:xfrm>
          <a:prstGeom prst="rect">
            <a:avLst/>
          </a:prstGeom>
          <a:noFill/>
          <a:ln/>
        </p:spPr>
        <p:txBody>
          <a:bodyPr wrap="square" lIns="0" tIns="0" rIns="0" bIns="0" rtlCol="0" anchor="ctr"/>
          <a:lstStyle/>
          <a:p>
            <a:pPr indent="0" marL="0">
              <a:lnSpc>
                <a:spcPct val="130000"/>
              </a:lnSpc>
              <a:buNone/>
            </a:pPr>
            <a:r>
              <a:rPr lang="en-US" sz="1500" dirty="0">
                <a:solidFill>
                  <a:srgbClr val="FFFFFF"/>
                </a:solidFill>
                <a:latin typeface="Arial" pitchFamily="34" charset="0"/>
                <a:ea typeface="Arial" pitchFamily="34" charset="-122"/>
                <a:cs typeface="Arial" pitchFamily="34" charset="-120"/>
              </a:rPr>
              <a:t>Ninguna afirmación de ningún participante — incluido el propio autor de este documento — se acepta sin contrastarla directamente contra el código fuente del repositorio o contra los seis archivos BAPLIE del corpus de prueba, reimplementando la lógica reportada de forma independiente cuando hizo falta.</a:t>
            </a:r>
            <a:endParaRPr lang="en-US" sz="1500" dirty="0"/>
          </a:p>
        </p:txBody>
      </p:sp>
      <p:sp>
        <p:nvSpPr>
          <p:cNvPr id="25" name="Text 23"/>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B6B76"/>
                </a:solidFill>
                <a:latin typeface="Arial" pitchFamily="34" charset="0"/>
                <a:ea typeface="Arial" pitchFamily="34" charset="-122"/>
                <a:cs typeface="Arial"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65A82"/>
                </a:solidFill>
                <a:latin typeface="Arial" pitchFamily="34" charset="0"/>
                <a:ea typeface="Arial" pitchFamily="34" charset="-122"/>
                <a:cs typeface="Arial" pitchFamily="34" charset="-120"/>
              </a:rPr>
              <a:t>II. CORRECCIONES CERRADAS DEL SPRINT 1</a:t>
            </a:r>
            <a:endParaRPr lang="en-US" sz="12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2800" b="1" dirty="0">
                <a:solidFill>
                  <a:srgbClr val="0B2545"/>
                </a:solidFill>
                <a:latin typeface="Arial" pitchFamily="34" charset="0"/>
                <a:ea typeface="Arial" pitchFamily="34" charset="-122"/>
                <a:cs typeface="Arial" pitchFamily="34" charset="-120"/>
              </a:rPr>
              <a:t>Nueve correcciones, todas cerradas y verificadas</a:t>
            </a:r>
            <a:endParaRPr lang="en-US" sz="2800" dirty="0"/>
          </a:p>
        </p:txBody>
      </p:sp>
      <p:sp>
        <p:nvSpPr>
          <p:cNvPr id="4" name="Shape 2"/>
          <p:cNvSpPr/>
          <p:nvPr/>
        </p:nvSpPr>
        <p:spPr>
          <a:xfrm>
            <a:off x="548640" y="1600200"/>
            <a:ext cx="3611880" cy="1417320"/>
          </a:xfrm>
          <a:prstGeom prst="roundRect">
            <a:avLst>
              <a:gd name="adj" fmla="val 5161"/>
            </a:avLst>
          </a:prstGeom>
          <a:solidFill>
            <a:srgbClr val="EAF3F8"/>
          </a:solidFill>
          <a:ln w="12700">
            <a:solidFill>
              <a:srgbClr val="C9D8E0"/>
            </a:solidFill>
            <a:prstDash val="solid"/>
          </a:ln>
        </p:spPr>
      </p:sp>
      <p:sp>
        <p:nvSpPr>
          <p:cNvPr id="5" name="Shape 3"/>
          <p:cNvSpPr/>
          <p:nvPr/>
        </p:nvSpPr>
        <p:spPr>
          <a:xfrm>
            <a:off x="713232" y="1746504"/>
            <a:ext cx="777240" cy="310896"/>
          </a:xfrm>
          <a:prstGeom prst="roundRect">
            <a:avLst>
              <a:gd name="adj" fmla="val 17647"/>
            </a:avLst>
          </a:prstGeom>
          <a:solidFill>
            <a:srgbClr val="065A82"/>
          </a:solidFill>
          <a:ln/>
        </p:spPr>
      </p:sp>
      <p:sp>
        <p:nvSpPr>
          <p:cNvPr id="6" name="Text 4"/>
          <p:cNvSpPr txBox="1"/>
          <p:nvPr/>
        </p:nvSpPr>
        <p:spPr>
          <a:xfrm>
            <a:off x="713232" y="1746504"/>
            <a:ext cx="77724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C‑1</a:t>
            </a:r>
            <a:endParaRPr lang="en-US" sz="1250" dirty="0"/>
          </a:p>
        </p:txBody>
      </p:sp>
      <p:sp>
        <p:nvSpPr>
          <p:cNvPr id="7" name="Text 5"/>
          <p:cNvSpPr txBox="1"/>
          <p:nvPr/>
        </p:nvSpPr>
        <p:spPr>
          <a:xfrm>
            <a:off x="1600200" y="1719072"/>
            <a:ext cx="2423160" cy="365760"/>
          </a:xfrm>
          <a:prstGeom prst="rect">
            <a:avLst/>
          </a:prstGeom>
          <a:noFill/>
          <a:ln/>
        </p:spPr>
        <p:txBody>
          <a:bodyPr wrap="square" lIns="0" tIns="0" rIns="0" bIns="0" rtlCol="0" anchor="ctr"/>
          <a:lstStyle/>
          <a:p>
            <a:pPr indent="0" marL="0">
              <a:buNone/>
            </a:pPr>
            <a:r>
              <a:rPr lang="en-US" sz="1250" b="1" dirty="0">
                <a:solidFill>
                  <a:srgbClr val="0B2545"/>
                </a:solidFill>
                <a:latin typeface="Arial" pitchFamily="34" charset="0"/>
                <a:ea typeface="Arial" pitchFamily="34" charset="-122"/>
                <a:cs typeface="Arial" pitchFamily="34" charset="-120"/>
              </a:rPr>
              <a:t>TEU sin decimales</a:t>
            </a:r>
            <a:endParaRPr lang="en-US" sz="1250" dirty="0"/>
          </a:p>
        </p:txBody>
      </p:sp>
      <p:sp>
        <p:nvSpPr>
          <p:cNvPr id="8" name="Text 6"/>
          <p:cNvSpPr txBox="1"/>
          <p:nvPr/>
        </p:nvSpPr>
        <p:spPr>
          <a:xfrm>
            <a:off x="713232" y="2167128"/>
            <a:ext cx="3282696" cy="777240"/>
          </a:xfrm>
          <a:prstGeom prst="rect">
            <a:avLst/>
          </a:prstGeom>
          <a:noFill/>
          <a:ln/>
        </p:spPr>
        <p:txBody>
          <a:bodyPr wrap="square" lIns="0" tIns="0" rIns="0" bIns="0" rtlCol="0" anchor="ctr"/>
          <a:lstStyle/>
          <a:p>
            <a:pPr indent="0" marL="0">
              <a:lnSpc>
                <a:spcPct val="110000"/>
              </a:lnSpc>
              <a:buNone/>
            </a:pPr>
            <a:r>
              <a:rPr lang="en-US" sz="1050" dirty="0">
                <a:solidFill>
                  <a:srgbClr val="5B6B76"/>
                </a:solidFill>
                <a:latin typeface="Arial" pitchFamily="34" charset="0"/>
                <a:ea typeface="Arial" pitchFamily="34" charset="-122"/>
                <a:cs typeface="Arial" pitchFamily="34" charset="-120"/>
              </a:rPr>
              <a:t>2.25 por contenedor de 45 pies en vez de 2 exacto</a:t>
            </a:r>
            <a:endParaRPr lang="en-US" sz="1050" dirty="0"/>
          </a:p>
        </p:txBody>
      </p:sp>
      <p:sp>
        <p:nvSpPr>
          <p:cNvPr id="9" name="Shape 7"/>
          <p:cNvSpPr/>
          <p:nvPr/>
        </p:nvSpPr>
        <p:spPr>
          <a:xfrm>
            <a:off x="4297680" y="1600200"/>
            <a:ext cx="3611880" cy="1417320"/>
          </a:xfrm>
          <a:prstGeom prst="roundRect">
            <a:avLst>
              <a:gd name="adj" fmla="val 5161"/>
            </a:avLst>
          </a:prstGeom>
          <a:solidFill>
            <a:srgbClr val="EAF3F8"/>
          </a:solidFill>
          <a:ln w="12700">
            <a:solidFill>
              <a:srgbClr val="C9D8E0"/>
            </a:solidFill>
            <a:prstDash val="solid"/>
          </a:ln>
        </p:spPr>
      </p:sp>
      <p:sp>
        <p:nvSpPr>
          <p:cNvPr id="10" name="Shape 8"/>
          <p:cNvSpPr/>
          <p:nvPr/>
        </p:nvSpPr>
        <p:spPr>
          <a:xfrm>
            <a:off x="4462272" y="1746504"/>
            <a:ext cx="777240" cy="310896"/>
          </a:xfrm>
          <a:prstGeom prst="roundRect">
            <a:avLst>
              <a:gd name="adj" fmla="val 17647"/>
            </a:avLst>
          </a:prstGeom>
          <a:solidFill>
            <a:srgbClr val="065A82"/>
          </a:solidFill>
          <a:ln/>
        </p:spPr>
      </p:sp>
      <p:sp>
        <p:nvSpPr>
          <p:cNvPr id="11" name="Text 9"/>
          <p:cNvSpPr txBox="1"/>
          <p:nvPr/>
        </p:nvSpPr>
        <p:spPr>
          <a:xfrm>
            <a:off x="4462272" y="1746504"/>
            <a:ext cx="77724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C‑2</a:t>
            </a:r>
            <a:endParaRPr lang="en-US" sz="1250" dirty="0"/>
          </a:p>
        </p:txBody>
      </p:sp>
      <p:sp>
        <p:nvSpPr>
          <p:cNvPr id="12" name="Text 10"/>
          <p:cNvSpPr txBox="1"/>
          <p:nvPr/>
        </p:nvSpPr>
        <p:spPr>
          <a:xfrm>
            <a:off x="5349240" y="1719072"/>
            <a:ext cx="2423160" cy="365760"/>
          </a:xfrm>
          <a:prstGeom prst="rect">
            <a:avLst/>
          </a:prstGeom>
          <a:noFill/>
          <a:ln/>
        </p:spPr>
        <p:txBody>
          <a:bodyPr wrap="square" lIns="0" tIns="0" rIns="0" bIns="0" rtlCol="0" anchor="ctr"/>
          <a:lstStyle/>
          <a:p>
            <a:pPr indent="0" marL="0">
              <a:buNone/>
            </a:pPr>
            <a:r>
              <a:rPr lang="en-US" sz="1250" b="1" dirty="0">
                <a:solidFill>
                  <a:srgbClr val="0B2545"/>
                </a:solidFill>
                <a:latin typeface="Arial" pitchFamily="34" charset="0"/>
                <a:ea typeface="Arial" pitchFamily="34" charset="-122"/>
                <a:cs typeface="Arial" pitchFamily="34" charset="-120"/>
              </a:rPr>
              <a:t>Fila 00</a:t>
            </a:r>
            <a:endParaRPr lang="en-US" sz="1250" dirty="0"/>
          </a:p>
        </p:txBody>
      </p:sp>
      <p:sp>
        <p:nvSpPr>
          <p:cNvPr id="13" name="Text 11"/>
          <p:cNvSpPr txBox="1"/>
          <p:nvPr/>
        </p:nvSpPr>
        <p:spPr>
          <a:xfrm>
            <a:off x="4462272" y="2167128"/>
            <a:ext cx="3282696" cy="777240"/>
          </a:xfrm>
          <a:prstGeom prst="rect">
            <a:avLst/>
          </a:prstGeom>
          <a:noFill/>
          <a:ln/>
        </p:spPr>
        <p:txBody>
          <a:bodyPr wrap="square" lIns="0" tIns="0" rIns="0" bIns="0" rtlCol="0" anchor="ctr"/>
          <a:lstStyle/>
          <a:p>
            <a:pPr indent="0" marL="0">
              <a:lnSpc>
                <a:spcPct val="110000"/>
              </a:lnSpc>
              <a:buNone/>
            </a:pPr>
            <a:r>
              <a:rPr lang="en-US" sz="1050" dirty="0">
                <a:solidFill>
                  <a:srgbClr val="5B6B76"/>
                </a:solidFill>
                <a:latin typeface="Arial" pitchFamily="34" charset="0"/>
                <a:ea typeface="Arial" pitchFamily="34" charset="-122"/>
                <a:cs typeface="Arial" pitchFamily="34" charset="-120"/>
              </a:rPr>
              <a:t>Presente en 4 de 7 archivos; no existía en la app</a:t>
            </a:r>
            <a:endParaRPr lang="en-US" sz="1050" dirty="0"/>
          </a:p>
        </p:txBody>
      </p:sp>
      <p:sp>
        <p:nvSpPr>
          <p:cNvPr id="14" name="Shape 12"/>
          <p:cNvSpPr/>
          <p:nvPr/>
        </p:nvSpPr>
        <p:spPr>
          <a:xfrm>
            <a:off x="8046720" y="1600200"/>
            <a:ext cx="3611880" cy="1417320"/>
          </a:xfrm>
          <a:prstGeom prst="roundRect">
            <a:avLst>
              <a:gd name="adj" fmla="val 5161"/>
            </a:avLst>
          </a:prstGeom>
          <a:solidFill>
            <a:srgbClr val="EAF3F8"/>
          </a:solidFill>
          <a:ln w="12700">
            <a:solidFill>
              <a:srgbClr val="C9D8E0"/>
            </a:solidFill>
            <a:prstDash val="solid"/>
          </a:ln>
        </p:spPr>
      </p:sp>
      <p:sp>
        <p:nvSpPr>
          <p:cNvPr id="15" name="Shape 13"/>
          <p:cNvSpPr/>
          <p:nvPr/>
        </p:nvSpPr>
        <p:spPr>
          <a:xfrm>
            <a:off x="8211312" y="1746504"/>
            <a:ext cx="777240" cy="310896"/>
          </a:xfrm>
          <a:prstGeom prst="roundRect">
            <a:avLst>
              <a:gd name="adj" fmla="val 17647"/>
            </a:avLst>
          </a:prstGeom>
          <a:solidFill>
            <a:srgbClr val="065A82"/>
          </a:solidFill>
          <a:ln/>
        </p:spPr>
      </p:sp>
      <p:sp>
        <p:nvSpPr>
          <p:cNvPr id="16" name="Text 14"/>
          <p:cNvSpPr txBox="1"/>
          <p:nvPr/>
        </p:nvSpPr>
        <p:spPr>
          <a:xfrm>
            <a:off x="8211312" y="1746504"/>
            <a:ext cx="77724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C‑3</a:t>
            </a:r>
            <a:endParaRPr lang="en-US" sz="1250" dirty="0"/>
          </a:p>
        </p:txBody>
      </p:sp>
      <p:sp>
        <p:nvSpPr>
          <p:cNvPr id="17" name="Text 15"/>
          <p:cNvSpPr txBox="1"/>
          <p:nvPr/>
        </p:nvSpPr>
        <p:spPr>
          <a:xfrm>
            <a:off x="9098280" y="1719072"/>
            <a:ext cx="2423160" cy="365760"/>
          </a:xfrm>
          <a:prstGeom prst="rect">
            <a:avLst/>
          </a:prstGeom>
          <a:noFill/>
          <a:ln/>
        </p:spPr>
        <p:txBody>
          <a:bodyPr wrap="square" lIns="0" tIns="0" rIns="0" bIns="0" rtlCol="0" anchor="ctr"/>
          <a:lstStyle/>
          <a:p>
            <a:pPr indent="0" marL="0">
              <a:buNone/>
            </a:pPr>
            <a:r>
              <a:rPr lang="en-US" sz="1250" b="1" dirty="0">
                <a:solidFill>
                  <a:srgbClr val="0B2545"/>
                </a:solidFill>
                <a:latin typeface="Arial" pitchFamily="34" charset="0"/>
                <a:ea typeface="Arial" pitchFamily="34" charset="-122"/>
                <a:cs typeface="Arial" pitchFamily="34" charset="-120"/>
              </a:rPr>
              <a:t>Geometría parametrizada</a:t>
            </a:r>
            <a:endParaRPr lang="en-US" sz="1250" dirty="0"/>
          </a:p>
        </p:txBody>
      </p:sp>
      <p:sp>
        <p:nvSpPr>
          <p:cNvPr id="18" name="Text 16"/>
          <p:cNvSpPr txBox="1"/>
          <p:nvPr/>
        </p:nvSpPr>
        <p:spPr>
          <a:xfrm>
            <a:off x="8211312" y="2167128"/>
            <a:ext cx="3282696" cy="777240"/>
          </a:xfrm>
          <a:prstGeom prst="rect">
            <a:avLst/>
          </a:prstGeom>
          <a:noFill/>
          <a:ln/>
        </p:spPr>
        <p:txBody>
          <a:bodyPr wrap="square" lIns="0" tIns="0" rIns="0" bIns="0" rtlCol="0" anchor="ctr"/>
          <a:lstStyle/>
          <a:p>
            <a:pPr indent="0" marL="0">
              <a:lnSpc>
                <a:spcPct val="110000"/>
              </a:lnSpc>
              <a:buNone/>
            </a:pPr>
            <a:r>
              <a:rPr lang="en-US" sz="1050" dirty="0">
                <a:solidFill>
                  <a:srgbClr val="5B6B76"/>
                </a:solidFill>
                <a:latin typeface="Arial" pitchFamily="34" charset="0"/>
                <a:ea typeface="Arial" pitchFamily="34" charset="-122"/>
                <a:cs typeface="Arial" pitchFamily="34" charset="-120"/>
              </a:rPr>
              <a:t>El buque se inferían de forma implícita, no por archivo</a:t>
            </a:r>
            <a:endParaRPr lang="en-US" sz="1050" dirty="0"/>
          </a:p>
        </p:txBody>
      </p:sp>
      <p:sp>
        <p:nvSpPr>
          <p:cNvPr id="19" name="Shape 17"/>
          <p:cNvSpPr/>
          <p:nvPr/>
        </p:nvSpPr>
        <p:spPr>
          <a:xfrm>
            <a:off x="548640" y="3182112"/>
            <a:ext cx="3611880" cy="1417320"/>
          </a:xfrm>
          <a:prstGeom prst="roundRect">
            <a:avLst>
              <a:gd name="adj" fmla="val 5161"/>
            </a:avLst>
          </a:prstGeom>
          <a:solidFill>
            <a:srgbClr val="EAF3F8"/>
          </a:solidFill>
          <a:ln w="12700">
            <a:solidFill>
              <a:srgbClr val="C9D8E0"/>
            </a:solidFill>
            <a:prstDash val="solid"/>
          </a:ln>
        </p:spPr>
      </p:sp>
      <p:sp>
        <p:nvSpPr>
          <p:cNvPr id="20" name="Shape 18"/>
          <p:cNvSpPr/>
          <p:nvPr/>
        </p:nvSpPr>
        <p:spPr>
          <a:xfrm>
            <a:off x="713232" y="3328416"/>
            <a:ext cx="777240" cy="310896"/>
          </a:xfrm>
          <a:prstGeom prst="roundRect">
            <a:avLst>
              <a:gd name="adj" fmla="val 17647"/>
            </a:avLst>
          </a:prstGeom>
          <a:solidFill>
            <a:srgbClr val="065A82"/>
          </a:solidFill>
          <a:ln/>
        </p:spPr>
      </p:sp>
      <p:sp>
        <p:nvSpPr>
          <p:cNvPr id="21" name="Text 19"/>
          <p:cNvSpPr txBox="1"/>
          <p:nvPr/>
        </p:nvSpPr>
        <p:spPr>
          <a:xfrm>
            <a:off x="713232" y="3328416"/>
            <a:ext cx="77724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C‑4</a:t>
            </a:r>
            <a:endParaRPr lang="en-US" sz="1250" dirty="0"/>
          </a:p>
        </p:txBody>
      </p:sp>
      <p:sp>
        <p:nvSpPr>
          <p:cNvPr id="22" name="Text 20"/>
          <p:cNvSpPr txBox="1"/>
          <p:nvPr/>
        </p:nvSpPr>
        <p:spPr>
          <a:xfrm>
            <a:off x="1600200" y="3300984"/>
            <a:ext cx="2423160" cy="365760"/>
          </a:xfrm>
          <a:prstGeom prst="rect">
            <a:avLst/>
          </a:prstGeom>
          <a:noFill/>
          <a:ln/>
        </p:spPr>
        <p:txBody>
          <a:bodyPr wrap="square" lIns="0" tIns="0" rIns="0" bIns="0" rtlCol="0" anchor="ctr"/>
          <a:lstStyle/>
          <a:p>
            <a:pPr indent="0" marL="0">
              <a:buNone/>
            </a:pPr>
            <a:r>
              <a:rPr lang="en-US" sz="1250" b="1" dirty="0">
                <a:solidFill>
                  <a:srgbClr val="0B2545"/>
                </a:solidFill>
                <a:latin typeface="Arial" pitchFamily="34" charset="0"/>
                <a:ea typeface="Arial" pitchFamily="34" charset="-122"/>
                <a:cs typeface="Arial" pitchFamily="34" charset="-120"/>
              </a:rPr>
              <a:t>Niveles reales</a:t>
            </a:r>
            <a:endParaRPr lang="en-US" sz="1250" dirty="0"/>
          </a:p>
        </p:txBody>
      </p:sp>
      <p:sp>
        <p:nvSpPr>
          <p:cNvPr id="23" name="Text 21"/>
          <p:cNvSpPr txBox="1"/>
          <p:nvPr/>
        </p:nvSpPr>
        <p:spPr>
          <a:xfrm>
            <a:off x="713232" y="3749040"/>
            <a:ext cx="3282696" cy="777240"/>
          </a:xfrm>
          <a:prstGeom prst="rect">
            <a:avLst/>
          </a:prstGeom>
          <a:noFill/>
          <a:ln/>
        </p:spPr>
        <p:txBody>
          <a:bodyPr wrap="square" lIns="0" tIns="0" rIns="0" bIns="0" rtlCol="0" anchor="ctr"/>
          <a:lstStyle/>
          <a:p>
            <a:pPr indent="0" marL="0">
              <a:lnSpc>
                <a:spcPct val="110000"/>
              </a:lnSpc>
              <a:buNone/>
            </a:pPr>
            <a:r>
              <a:rPr lang="en-US" sz="1050" dirty="0">
                <a:solidFill>
                  <a:srgbClr val="5B6B76"/>
                </a:solidFill>
                <a:latin typeface="Arial" pitchFamily="34" charset="0"/>
                <a:ea typeface="Arial" pitchFamily="34" charset="-122"/>
                <a:cs typeface="Arial" pitchFamily="34" charset="-120"/>
              </a:rPr>
              <a:t>45 niveles interpolados cuando solo 12 existen</a:t>
            </a:r>
            <a:endParaRPr lang="en-US" sz="1050" dirty="0"/>
          </a:p>
        </p:txBody>
      </p:sp>
      <p:sp>
        <p:nvSpPr>
          <p:cNvPr id="24" name="Shape 22"/>
          <p:cNvSpPr/>
          <p:nvPr/>
        </p:nvSpPr>
        <p:spPr>
          <a:xfrm>
            <a:off x="4297680" y="3182112"/>
            <a:ext cx="3611880" cy="1417320"/>
          </a:xfrm>
          <a:prstGeom prst="roundRect">
            <a:avLst>
              <a:gd name="adj" fmla="val 5161"/>
            </a:avLst>
          </a:prstGeom>
          <a:solidFill>
            <a:srgbClr val="EAF3F8"/>
          </a:solidFill>
          <a:ln w="12700">
            <a:solidFill>
              <a:srgbClr val="C9D8E0"/>
            </a:solidFill>
            <a:prstDash val="solid"/>
          </a:ln>
        </p:spPr>
      </p:sp>
      <p:sp>
        <p:nvSpPr>
          <p:cNvPr id="25" name="Shape 23"/>
          <p:cNvSpPr/>
          <p:nvPr/>
        </p:nvSpPr>
        <p:spPr>
          <a:xfrm>
            <a:off x="4462272" y="3328416"/>
            <a:ext cx="777240" cy="310896"/>
          </a:xfrm>
          <a:prstGeom prst="roundRect">
            <a:avLst>
              <a:gd name="adj" fmla="val 17647"/>
            </a:avLst>
          </a:prstGeom>
          <a:solidFill>
            <a:srgbClr val="065A82"/>
          </a:solidFill>
          <a:ln/>
        </p:spPr>
      </p:sp>
      <p:sp>
        <p:nvSpPr>
          <p:cNvPr id="26" name="Text 24"/>
          <p:cNvSpPr txBox="1"/>
          <p:nvPr/>
        </p:nvSpPr>
        <p:spPr>
          <a:xfrm>
            <a:off x="4462272" y="3328416"/>
            <a:ext cx="77724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C‑5a</a:t>
            </a:r>
            <a:endParaRPr lang="en-US" sz="1250" dirty="0"/>
          </a:p>
        </p:txBody>
      </p:sp>
      <p:sp>
        <p:nvSpPr>
          <p:cNvPr id="27" name="Text 25"/>
          <p:cNvSpPr txBox="1"/>
          <p:nvPr/>
        </p:nvSpPr>
        <p:spPr>
          <a:xfrm>
            <a:off x="5349240" y="3300984"/>
            <a:ext cx="2423160" cy="365760"/>
          </a:xfrm>
          <a:prstGeom prst="rect">
            <a:avLst/>
          </a:prstGeom>
          <a:noFill/>
          <a:ln/>
        </p:spPr>
        <p:txBody>
          <a:bodyPr wrap="square" lIns="0" tIns="0" rIns="0" bIns="0" rtlCol="0" anchor="ctr"/>
          <a:lstStyle/>
          <a:p>
            <a:pPr indent="0" marL="0">
              <a:buNone/>
            </a:pPr>
            <a:r>
              <a:rPr lang="en-US" sz="1250" b="1" dirty="0">
                <a:solidFill>
                  <a:srgbClr val="0B2545"/>
                </a:solidFill>
                <a:latin typeface="Arial" pitchFamily="34" charset="0"/>
                <a:ea typeface="Arial" pitchFamily="34" charset="-122"/>
                <a:cs typeface="Arial" pitchFamily="34" charset="-120"/>
              </a:rPr>
              <a:t>Carga de paso</a:t>
            </a:r>
            <a:endParaRPr lang="en-US" sz="1250" dirty="0"/>
          </a:p>
        </p:txBody>
      </p:sp>
      <p:sp>
        <p:nvSpPr>
          <p:cNvPr id="28" name="Text 26"/>
          <p:cNvSpPr txBox="1"/>
          <p:nvPr/>
        </p:nvSpPr>
        <p:spPr>
          <a:xfrm>
            <a:off x="4462272" y="3749040"/>
            <a:ext cx="3282696" cy="777240"/>
          </a:xfrm>
          <a:prstGeom prst="rect">
            <a:avLst/>
          </a:prstGeom>
          <a:noFill/>
          <a:ln/>
        </p:spPr>
        <p:txBody>
          <a:bodyPr wrap="square" lIns="0" tIns="0" rIns="0" bIns="0" rtlCol="0" anchor="ctr"/>
          <a:lstStyle/>
          <a:p>
            <a:pPr indent="0" marL="0">
              <a:lnSpc>
                <a:spcPct val="110000"/>
              </a:lnSpc>
              <a:buNone/>
            </a:pPr>
            <a:r>
              <a:rPr lang="en-US" sz="1050" dirty="0">
                <a:solidFill>
                  <a:srgbClr val="5B6B76"/>
                </a:solidFill>
                <a:latin typeface="Arial" pitchFamily="34" charset="0"/>
                <a:ea typeface="Arial" pitchFamily="34" charset="-122"/>
                <a:cs typeface="Arial" pitchFamily="34" charset="-120"/>
              </a:rPr>
              <a:t>No se distinguía la carga a bordo de la operada en escala</a:t>
            </a:r>
            <a:endParaRPr lang="en-US" sz="1050" dirty="0"/>
          </a:p>
        </p:txBody>
      </p:sp>
      <p:sp>
        <p:nvSpPr>
          <p:cNvPr id="29" name="Shape 27"/>
          <p:cNvSpPr/>
          <p:nvPr/>
        </p:nvSpPr>
        <p:spPr>
          <a:xfrm>
            <a:off x="8046720" y="3182112"/>
            <a:ext cx="3611880" cy="1417320"/>
          </a:xfrm>
          <a:prstGeom prst="roundRect">
            <a:avLst>
              <a:gd name="adj" fmla="val 5161"/>
            </a:avLst>
          </a:prstGeom>
          <a:solidFill>
            <a:srgbClr val="EAF3F8"/>
          </a:solidFill>
          <a:ln w="12700">
            <a:solidFill>
              <a:srgbClr val="C9D8E0"/>
            </a:solidFill>
            <a:prstDash val="solid"/>
          </a:ln>
        </p:spPr>
      </p:sp>
      <p:sp>
        <p:nvSpPr>
          <p:cNvPr id="30" name="Shape 28"/>
          <p:cNvSpPr/>
          <p:nvPr/>
        </p:nvSpPr>
        <p:spPr>
          <a:xfrm>
            <a:off x="8211312" y="3328416"/>
            <a:ext cx="777240" cy="310896"/>
          </a:xfrm>
          <a:prstGeom prst="roundRect">
            <a:avLst>
              <a:gd name="adj" fmla="val 17647"/>
            </a:avLst>
          </a:prstGeom>
          <a:solidFill>
            <a:srgbClr val="065A82"/>
          </a:solidFill>
          <a:ln/>
        </p:spPr>
      </p:sp>
      <p:sp>
        <p:nvSpPr>
          <p:cNvPr id="31" name="Text 29"/>
          <p:cNvSpPr txBox="1"/>
          <p:nvPr/>
        </p:nvSpPr>
        <p:spPr>
          <a:xfrm>
            <a:off x="8211312" y="3328416"/>
            <a:ext cx="77724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C‑5b</a:t>
            </a:r>
            <a:endParaRPr lang="en-US" sz="1250" dirty="0"/>
          </a:p>
        </p:txBody>
      </p:sp>
      <p:sp>
        <p:nvSpPr>
          <p:cNvPr id="32" name="Text 30"/>
          <p:cNvSpPr txBox="1"/>
          <p:nvPr/>
        </p:nvSpPr>
        <p:spPr>
          <a:xfrm>
            <a:off x="9098280" y="3300984"/>
            <a:ext cx="2423160" cy="365760"/>
          </a:xfrm>
          <a:prstGeom prst="rect">
            <a:avLst/>
          </a:prstGeom>
          <a:noFill/>
          <a:ln/>
        </p:spPr>
        <p:txBody>
          <a:bodyPr wrap="square" lIns="0" tIns="0" rIns="0" bIns="0" rtlCol="0" anchor="ctr"/>
          <a:lstStyle/>
          <a:p>
            <a:pPr indent="0" marL="0">
              <a:buNone/>
            </a:pPr>
            <a:r>
              <a:rPr lang="en-US" sz="1250" b="1" dirty="0">
                <a:solidFill>
                  <a:srgbClr val="0B2545"/>
                </a:solidFill>
                <a:latin typeface="Arial" pitchFamily="34" charset="0"/>
                <a:ea typeface="Arial" pitchFamily="34" charset="-122"/>
                <a:cs typeface="Arial" pitchFamily="34" charset="-120"/>
              </a:rPr>
              <a:t>Slots de 40 pies</a:t>
            </a:r>
            <a:endParaRPr lang="en-US" sz="1250" dirty="0"/>
          </a:p>
        </p:txBody>
      </p:sp>
      <p:sp>
        <p:nvSpPr>
          <p:cNvPr id="33" name="Text 31"/>
          <p:cNvSpPr txBox="1"/>
          <p:nvPr/>
        </p:nvSpPr>
        <p:spPr>
          <a:xfrm>
            <a:off x="8211312" y="3749040"/>
            <a:ext cx="3282696" cy="777240"/>
          </a:xfrm>
          <a:prstGeom prst="rect">
            <a:avLst/>
          </a:prstGeom>
          <a:noFill/>
          <a:ln/>
        </p:spPr>
        <p:txBody>
          <a:bodyPr wrap="square" lIns="0" tIns="0" rIns="0" bIns="0" rtlCol="0" anchor="ctr"/>
          <a:lstStyle/>
          <a:p>
            <a:pPr indent="0" marL="0">
              <a:lnSpc>
                <a:spcPct val="110000"/>
              </a:lnSpc>
              <a:buNone/>
            </a:pPr>
            <a:r>
              <a:rPr lang="en-US" sz="1050" dirty="0">
                <a:solidFill>
                  <a:srgbClr val="5B6B76"/>
                </a:solidFill>
                <a:latin typeface="Arial" pitchFamily="34" charset="0"/>
                <a:ea typeface="Arial" pitchFamily="34" charset="-122"/>
                <a:cs typeface="Arial" pitchFamily="34" charset="-120"/>
              </a:rPr>
              <a:t>No se restaba de los slots que ocupa en la bahía vecina</a:t>
            </a:r>
            <a:endParaRPr lang="en-US" sz="1050" dirty="0"/>
          </a:p>
        </p:txBody>
      </p:sp>
      <p:sp>
        <p:nvSpPr>
          <p:cNvPr id="34" name="Shape 32"/>
          <p:cNvSpPr/>
          <p:nvPr/>
        </p:nvSpPr>
        <p:spPr>
          <a:xfrm>
            <a:off x="548640" y="4764024"/>
            <a:ext cx="3611880" cy="1417320"/>
          </a:xfrm>
          <a:prstGeom prst="roundRect">
            <a:avLst>
              <a:gd name="adj" fmla="val 5161"/>
            </a:avLst>
          </a:prstGeom>
          <a:solidFill>
            <a:srgbClr val="EAF3F8"/>
          </a:solidFill>
          <a:ln w="12700">
            <a:solidFill>
              <a:srgbClr val="C9D8E0"/>
            </a:solidFill>
            <a:prstDash val="solid"/>
          </a:ln>
        </p:spPr>
      </p:sp>
      <p:sp>
        <p:nvSpPr>
          <p:cNvPr id="35" name="Shape 33"/>
          <p:cNvSpPr/>
          <p:nvPr/>
        </p:nvSpPr>
        <p:spPr>
          <a:xfrm>
            <a:off x="713232" y="4910328"/>
            <a:ext cx="777240" cy="310896"/>
          </a:xfrm>
          <a:prstGeom prst="roundRect">
            <a:avLst>
              <a:gd name="adj" fmla="val 17647"/>
            </a:avLst>
          </a:prstGeom>
          <a:solidFill>
            <a:srgbClr val="065A82"/>
          </a:solidFill>
          <a:ln/>
        </p:spPr>
      </p:sp>
      <p:sp>
        <p:nvSpPr>
          <p:cNvPr id="36" name="Text 34"/>
          <p:cNvSpPr txBox="1"/>
          <p:nvPr/>
        </p:nvSpPr>
        <p:spPr>
          <a:xfrm>
            <a:off x="713232" y="4910328"/>
            <a:ext cx="77724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C‑6</a:t>
            </a:r>
            <a:endParaRPr lang="en-US" sz="1250" dirty="0"/>
          </a:p>
        </p:txBody>
      </p:sp>
      <p:sp>
        <p:nvSpPr>
          <p:cNvPr id="37" name="Text 35"/>
          <p:cNvSpPr txBox="1"/>
          <p:nvPr/>
        </p:nvSpPr>
        <p:spPr>
          <a:xfrm>
            <a:off x="1600200" y="4882896"/>
            <a:ext cx="2423160" cy="365760"/>
          </a:xfrm>
          <a:prstGeom prst="rect">
            <a:avLst/>
          </a:prstGeom>
          <a:noFill/>
          <a:ln/>
        </p:spPr>
        <p:txBody>
          <a:bodyPr wrap="square" lIns="0" tIns="0" rIns="0" bIns="0" rtlCol="0" anchor="ctr"/>
          <a:lstStyle/>
          <a:p>
            <a:pPr indent="0" marL="0">
              <a:buNone/>
            </a:pPr>
            <a:r>
              <a:rPr lang="en-US" sz="1250" b="1" dirty="0">
                <a:solidFill>
                  <a:srgbClr val="0B2545"/>
                </a:solidFill>
                <a:latin typeface="Arial" pitchFamily="34" charset="0"/>
                <a:ea typeface="Arial" pitchFamily="34" charset="-122"/>
                <a:cs typeface="Arial" pitchFamily="34" charset="-120"/>
              </a:rPr>
              <a:t>Posición en el CSV</a:t>
            </a:r>
            <a:endParaRPr lang="en-US" sz="1250" dirty="0"/>
          </a:p>
        </p:txBody>
      </p:sp>
      <p:sp>
        <p:nvSpPr>
          <p:cNvPr id="38" name="Text 36"/>
          <p:cNvSpPr txBox="1"/>
          <p:nvPr/>
        </p:nvSpPr>
        <p:spPr>
          <a:xfrm>
            <a:off x="713232" y="5330952"/>
            <a:ext cx="3282696" cy="777240"/>
          </a:xfrm>
          <a:prstGeom prst="rect">
            <a:avLst/>
          </a:prstGeom>
          <a:noFill/>
          <a:ln/>
        </p:spPr>
        <p:txBody>
          <a:bodyPr wrap="square" lIns="0" tIns="0" rIns="0" bIns="0" rtlCol="0" anchor="ctr"/>
          <a:lstStyle/>
          <a:p>
            <a:pPr indent="0" marL="0">
              <a:lnSpc>
                <a:spcPct val="110000"/>
              </a:lnSpc>
              <a:buNone/>
            </a:pPr>
            <a:r>
              <a:rPr lang="en-US" sz="1050" dirty="0">
                <a:solidFill>
                  <a:srgbClr val="5B6B76"/>
                </a:solidFill>
                <a:latin typeface="Arial" pitchFamily="34" charset="0"/>
                <a:ea typeface="Arial" pitchFamily="34" charset="-122"/>
                <a:cs typeface="Arial" pitchFamily="34" charset="-120"/>
              </a:rPr>
              <a:t>Excel perdía los ceros a la izquierda</a:t>
            </a:r>
            <a:endParaRPr lang="en-US" sz="1050" dirty="0"/>
          </a:p>
        </p:txBody>
      </p:sp>
      <p:sp>
        <p:nvSpPr>
          <p:cNvPr id="39" name="Shape 37"/>
          <p:cNvSpPr/>
          <p:nvPr/>
        </p:nvSpPr>
        <p:spPr>
          <a:xfrm>
            <a:off x="4297680" y="4764024"/>
            <a:ext cx="3611880" cy="1417320"/>
          </a:xfrm>
          <a:prstGeom prst="roundRect">
            <a:avLst>
              <a:gd name="adj" fmla="val 5161"/>
            </a:avLst>
          </a:prstGeom>
          <a:solidFill>
            <a:srgbClr val="EAF3F8"/>
          </a:solidFill>
          <a:ln w="12700">
            <a:solidFill>
              <a:srgbClr val="C9D8E0"/>
            </a:solidFill>
            <a:prstDash val="solid"/>
          </a:ln>
        </p:spPr>
      </p:sp>
      <p:sp>
        <p:nvSpPr>
          <p:cNvPr id="40" name="Shape 38"/>
          <p:cNvSpPr/>
          <p:nvPr/>
        </p:nvSpPr>
        <p:spPr>
          <a:xfrm>
            <a:off x="4462272" y="4910328"/>
            <a:ext cx="777240" cy="310896"/>
          </a:xfrm>
          <a:prstGeom prst="roundRect">
            <a:avLst>
              <a:gd name="adj" fmla="val 17647"/>
            </a:avLst>
          </a:prstGeom>
          <a:solidFill>
            <a:srgbClr val="065A82"/>
          </a:solidFill>
          <a:ln/>
        </p:spPr>
      </p:sp>
      <p:sp>
        <p:nvSpPr>
          <p:cNvPr id="41" name="Text 39"/>
          <p:cNvSpPr txBox="1"/>
          <p:nvPr/>
        </p:nvSpPr>
        <p:spPr>
          <a:xfrm>
            <a:off x="4462272" y="4910328"/>
            <a:ext cx="77724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C‑7</a:t>
            </a:r>
            <a:endParaRPr lang="en-US" sz="1250" dirty="0"/>
          </a:p>
        </p:txBody>
      </p:sp>
      <p:sp>
        <p:nvSpPr>
          <p:cNvPr id="42" name="Text 40"/>
          <p:cNvSpPr txBox="1"/>
          <p:nvPr/>
        </p:nvSpPr>
        <p:spPr>
          <a:xfrm>
            <a:off x="5349240" y="4882896"/>
            <a:ext cx="2423160" cy="365760"/>
          </a:xfrm>
          <a:prstGeom prst="rect">
            <a:avLst/>
          </a:prstGeom>
          <a:noFill/>
          <a:ln/>
        </p:spPr>
        <p:txBody>
          <a:bodyPr wrap="square" lIns="0" tIns="0" rIns="0" bIns="0" rtlCol="0" anchor="ctr"/>
          <a:lstStyle/>
          <a:p>
            <a:pPr indent="0" marL="0">
              <a:buNone/>
            </a:pPr>
            <a:r>
              <a:rPr lang="en-US" sz="1250" b="1" dirty="0">
                <a:solidFill>
                  <a:srgbClr val="0B2545"/>
                </a:solidFill>
                <a:latin typeface="Arial" pitchFamily="34" charset="0"/>
                <a:ea typeface="Arial" pitchFamily="34" charset="-122"/>
                <a:cs typeface="Arial" pitchFamily="34" charset="-120"/>
              </a:rPr>
              <a:t>Peso por fila</a:t>
            </a:r>
            <a:endParaRPr lang="en-US" sz="1250" dirty="0"/>
          </a:p>
        </p:txBody>
      </p:sp>
      <p:sp>
        <p:nvSpPr>
          <p:cNvPr id="43" name="Text 41"/>
          <p:cNvSpPr txBox="1"/>
          <p:nvPr/>
        </p:nvSpPr>
        <p:spPr>
          <a:xfrm>
            <a:off x="4462272" y="5330952"/>
            <a:ext cx="3282696" cy="777240"/>
          </a:xfrm>
          <a:prstGeom prst="rect">
            <a:avLst/>
          </a:prstGeom>
          <a:noFill/>
          <a:ln/>
        </p:spPr>
        <p:txBody>
          <a:bodyPr wrap="square" lIns="0" tIns="0" rIns="0" bIns="0" rtlCol="0" anchor="ctr"/>
          <a:lstStyle/>
          <a:p>
            <a:pPr indent="0" marL="0">
              <a:lnSpc>
                <a:spcPct val="110000"/>
              </a:lnSpc>
              <a:buNone/>
            </a:pPr>
            <a:r>
              <a:rPr lang="en-US" sz="1050" dirty="0">
                <a:solidFill>
                  <a:srgbClr val="5B6B76"/>
                </a:solidFill>
                <a:latin typeface="Arial" pitchFamily="34" charset="0"/>
                <a:ea typeface="Arial" pitchFamily="34" charset="-122"/>
                <a:cs typeface="Arial" pitchFamily="34" charset="-120"/>
              </a:rPr>
              <a:t>El límite de apilamiento no separaba el peso por fila</a:t>
            </a:r>
            <a:endParaRPr lang="en-US" sz="1050" dirty="0"/>
          </a:p>
        </p:txBody>
      </p:sp>
      <p:sp>
        <p:nvSpPr>
          <p:cNvPr id="44" name="Shape 42"/>
          <p:cNvSpPr/>
          <p:nvPr/>
        </p:nvSpPr>
        <p:spPr>
          <a:xfrm>
            <a:off x="8046720" y="4764024"/>
            <a:ext cx="3611880" cy="1417320"/>
          </a:xfrm>
          <a:prstGeom prst="roundRect">
            <a:avLst>
              <a:gd name="adj" fmla="val 5161"/>
            </a:avLst>
          </a:prstGeom>
          <a:solidFill>
            <a:srgbClr val="EAF3F8"/>
          </a:solidFill>
          <a:ln w="12700">
            <a:solidFill>
              <a:srgbClr val="C9D8E0"/>
            </a:solidFill>
            <a:prstDash val="solid"/>
          </a:ln>
        </p:spPr>
      </p:sp>
      <p:sp>
        <p:nvSpPr>
          <p:cNvPr id="45" name="Shape 43"/>
          <p:cNvSpPr/>
          <p:nvPr/>
        </p:nvSpPr>
        <p:spPr>
          <a:xfrm>
            <a:off x="8211312" y="4910328"/>
            <a:ext cx="777240" cy="310896"/>
          </a:xfrm>
          <a:prstGeom prst="roundRect">
            <a:avLst>
              <a:gd name="adj" fmla="val 17647"/>
            </a:avLst>
          </a:prstGeom>
          <a:solidFill>
            <a:srgbClr val="065A82"/>
          </a:solidFill>
          <a:ln/>
        </p:spPr>
      </p:sp>
      <p:sp>
        <p:nvSpPr>
          <p:cNvPr id="46" name="Text 44"/>
          <p:cNvSpPr txBox="1"/>
          <p:nvPr/>
        </p:nvSpPr>
        <p:spPr>
          <a:xfrm>
            <a:off x="8211312" y="4910328"/>
            <a:ext cx="777240" cy="310896"/>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EQD</a:t>
            </a:r>
            <a:endParaRPr lang="en-US" sz="1250" dirty="0"/>
          </a:p>
        </p:txBody>
      </p:sp>
      <p:sp>
        <p:nvSpPr>
          <p:cNvPr id="47" name="Text 45"/>
          <p:cNvSpPr txBox="1"/>
          <p:nvPr/>
        </p:nvSpPr>
        <p:spPr>
          <a:xfrm>
            <a:off x="9098280" y="4882896"/>
            <a:ext cx="2423160" cy="365760"/>
          </a:xfrm>
          <a:prstGeom prst="rect">
            <a:avLst/>
          </a:prstGeom>
          <a:noFill/>
          <a:ln/>
        </p:spPr>
        <p:txBody>
          <a:bodyPr wrap="square" lIns="0" tIns="0" rIns="0" bIns="0" rtlCol="0" anchor="ctr"/>
          <a:lstStyle/>
          <a:p>
            <a:pPr indent="0" marL="0">
              <a:buNone/>
            </a:pPr>
            <a:r>
              <a:rPr lang="en-US" sz="1250" b="1" dirty="0">
                <a:solidFill>
                  <a:srgbClr val="0B2545"/>
                </a:solidFill>
                <a:latin typeface="Arial" pitchFamily="34" charset="0"/>
                <a:ea typeface="Arial" pitchFamily="34" charset="-122"/>
                <a:cs typeface="Arial" pitchFamily="34" charset="-120"/>
              </a:rPr>
              <a:t>Indicador lleno/vacío</a:t>
            </a:r>
            <a:endParaRPr lang="en-US" sz="1250" dirty="0"/>
          </a:p>
        </p:txBody>
      </p:sp>
      <p:sp>
        <p:nvSpPr>
          <p:cNvPr id="48" name="Text 46"/>
          <p:cNvSpPr txBox="1"/>
          <p:nvPr/>
        </p:nvSpPr>
        <p:spPr>
          <a:xfrm>
            <a:off x="8211312" y="5330952"/>
            <a:ext cx="3282696" cy="777240"/>
          </a:xfrm>
          <a:prstGeom prst="rect">
            <a:avLst/>
          </a:prstGeom>
          <a:noFill/>
          <a:ln/>
        </p:spPr>
        <p:txBody>
          <a:bodyPr wrap="square" lIns="0" tIns="0" rIns="0" bIns="0" rtlCol="0" anchor="ctr"/>
          <a:lstStyle/>
          <a:p>
            <a:pPr indent="0" marL="0">
              <a:lnSpc>
                <a:spcPct val="110000"/>
              </a:lnSpc>
              <a:buNone/>
            </a:pPr>
            <a:r>
              <a:rPr lang="en-US" sz="1050" dirty="0">
                <a:solidFill>
                  <a:srgbClr val="5B6B76"/>
                </a:solidFill>
                <a:latin typeface="Arial" pitchFamily="34" charset="0"/>
                <a:ea typeface="Arial" pitchFamily="34" charset="-122"/>
                <a:cs typeface="Arial" pitchFamily="34" charset="-120"/>
              </a:rPr>
              <a:t>85 % de los contenedores llenos se leían como vacíos</a:t>
            </a:r>
            <a:endParaRPr lang="en-US" sz="1050" dirty="0"/>
          </a:p>
        </p:txBody>
      </p:sp>
      <p:sp>
        <p:nvSpPr>
          <p:cNvPr id="49" name="Text 47"/>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B6B76"/>
                </a:solidFill>
                <a:latin typeface="Arial" pitchFamily="34" charset="0"/>
                <a:ea typeface="Arial" pitchFamily="34" charset="-122"/>
                <a:cs typeface="Arial"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65A82"/>
                </a:solidFill>
                <a:latin typeface="Arial" pitchFamily="34" charset="0"/>
                <a:ea typeface="Arial" pitchFamily="34" charset="-122"/>
                <a:cs typeface="Arial" pitchFamily="34" charset="-120"/>
              </a:rPr>
              <a:t>III. HALLAZGOS POSTERIORES AL SPRINT 1</a:t>
            </a:r>
            <a:endParaRPr lang="en-US" sz="12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2800" b="1" dirty="0">
                <a:solidFill>
                  <a:srgbClr val="0B2545"/>
                </a:solidFill>
                <a:latin typeface="Arial" pitchFamily="34" charset="0"/>
                <a:ea typeface="Arial" pitchFamily="34" charset="-122"/>
                <a:cs typeface="Arial" pitchFamily="34" charset="-120"/>
              </a:rPr>
              <a:t>Cinco hallazgos más, cerrados sobre el corpus completo</a:t>
            </a:r>
            <a:endParaRPr lang="en-US" sz="2800" dirty="0"/>
          </a:p>
        </p:txBody>
      </p:sp>
      <p:sp>
        <p:nvSpPr>
          <p:cNvPr id="4" name="Shape 2"/>
          <p:cNvSpPr/>
          <p:nvPr/>
        </p:nvSpPr>
        <p:spPr>
          <a:xfrm>
            <a:off x="548640" y="1691640"/>
            <a:ext cx="3520440" cy="2148840"/>
          </a:xfrm>
          <a:prstGeom prst="roundRect">
            <a:avLst>
              <a:gd name="adj" fmla="val 4255"/>
            </a:avLst>
          </a:prstGeom>
          <a:solidFill>
            <a:srgbClr val="0B2545"/>
          </a:solidFill>
          <a:ln/>
        </p:spPr>
      </p:sp>
      <p:sp>
        <p:nvSpPr>
          <p:cNvPr id="5" name="Text 3"/>
          <p:cNvSpPr txBox="1"/>
          <p:nvPr/>
        </p:nvSpPr>
        <p:spPr>
          <a:xfrm>
            <a:off x="731520" y="1920240"/>
            <a:ext cx="3154680" cy="685800"/>
          </a:xfrm>
          <a:prstGeom prst="rect">
            <a:avLst/>
          </a:prstGeom>
          <a:noFill/>
          <a:ln/>
        </p:spPr>
        <p:txBody>
          <a:bodyPr wrap="square" lIns="0" tIns="0" rIns="0" bIns="0" rtlCol="0" anchor="ctr"/>
          <a:lstStyle/>
          <a:p>
            <a:pPr indent="0" marL="0">
              <a:buNone/>
            </a:pPr>
            <a:r>
              <a:rPr lang="en-US" sz="3000" b="1" dirty="0">
                <a:solidFill>
                  <a:srgbClr val="6FCF97"/>
                </a:solidFill>
                <a:latin typeface="Arial" pitchFamily="34" charset="0"/>
                <a:ea typeface="Arial" pitchFamily="34" charset="-122"/>
                <a:cs typeface="Arial" pitchFamily="34" charset="-120"/>
              </a:rPr>
              <a:t>0 → 327</a:t>
            </a:r>
            <a:endParaRPr lang="en-US" sz="3000" dirty="0"/>
          </a:p>
        </p:txBody>
      </p:sp>
      <p:sp>
        <p:nvSpPr>
          <p:cNvPr id="6" name="Text 4"/>
          <p:cNvSpPr txBox="1"/>
          <p:nvPr/>
        </p:nvSpPr>
        <p:spPr>
          <a:xfrm>
            <a:off x="731520" y="2651760"/>
            <a:ext cx="3154680" cy="59436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Arial" pitchFamily="34" charset="0"/>
                <a:ea typeface="Arial" pitchFamily="34" charset="-122"/>
                <a:cs typeface="Arial" pitchFamily="34" charset="-120"/>
              </a:rPr>
              <a:t>contenedores refrigerados detectados</a:t>
            </a:r>
            <a:endParaRPr lang="en-US" sz="1300" dirty="0"/>
          </a:p>
        </p:txBody>
      </p:sp>
      <p:sp>
        <p:nvSpPr>
          <p:cNvPr id="7" name="Text 5"/>
          <p:cNvSpPr txBox="1"/>
          <p:nvPr/>
        </p:nvSpPr>
        <p:spPr>
          <a:xfrm>
            <a:off x="731520" y="3246120"/>
            <a:ext cx="3154680" cy="548640"/>
          </a:xfrm>
          <a:prstGeom prst="rect">
            <a:avLst/>
          </a:prstGeom>
          <a:noFill/>
          <a:ln/>
        </p:spPr>
        <p:txBody>
          <a:bodyPr wrap="square" lIns="0" tIns="0" rIns="0" bIns="0" rtlCol="0" anchor="ctr"/>
          <a:lstStyle/>
          <a:p>
            <a:pPr indent="0" marL="0">
              <a:lnSpc>
                <a:spcPct val="110000"/>
              </a:lnSpc>
              <a:buNone/>
            </a:pPr>
            <a:r>
              <a:rPr lang="en-US" sz="1050" i="1" dirty="0">
                <a:solidFill>
                  <a:srgbClr val="B9CBD9"/>
                </a:solidFill>
                <a:latin typeface="Arial" pitchFamily="34" charset="0"/>
                <a:ea typeface="Arial" pitchFamily="34" charset="-122"/>
                <a:cs typeface="Arial" pitchFamily="34" charset="-120"/>
              </a:rPr>
              <a:t>238 con temperatura, exacto contra el corpus</a:t>
            </a:r>
            <a:endParaRPr lang="en-US" sz="1050" dirty="0"/>
          </a:p>
        </p:txBody>
      </p:sp>
      <p:sp>
        <p:nvSpPr>
          <p:cNvPr id="8" name="Shape 6"/>
          <p:cNvSpPr/>
          <p:nvPr/>
        </p:nvSpPr>
        <p:spPr>
          <a:xfrm>
            <a:off x="4389120" y="1691640"/>
            <a:ext cx="3520440" cy="2148840"/>
          </a:xfrm>
          <a:prstGeom prst="roundRect">
            <a:avLst>
              <a:gd name="adj" fmla="val 4255"/>
            </a:avLst>
          </a:prstGeom>
          <a:solidFill>
            <a:srgbClr val="0B2545"/>
          </a:solidFill>
          <a:ln/>
        </p:spPr>
      </p:sp>
      <p:sp>
        <p:nvSpPr>
          <p:cNvPr id="9" name="Text 7"/>
          <p:cNvSpPr txBox="1"/>
          <p:nvPr/>
        </p:nvSpPr>
        <p:spPr>
          <a:xfrm>
            <a:off x="4572000" y="1920240"/>
            <a:ext cx="3154680" cy="685800"/>
          </a:xfrm>
          <a:prstGeom prst="rect">
            <a:avLst/>
          </a:prstGeom>
          <a:noFill/>
          <a:ln/>
        </p:spPr>
        <p:txBody>
          <a:bodyPr wrap="square" lIns="0" tIns="0" rIns="0" bIns="0" rtlCol="0" anchor="ctr"/>
          <a:lstStyle/>
          <a:p>
            <a:pPr indent="0" marL="0">
              <a:buNone/>
            </a:pPr>
            <a:r>
              <a:rPr lang="en-US" sz="3000" b="1" dirty="0">
                <a:solidFill>
                  <a:srgbClr val="6FCF97"/>
                </a:solidFill>
                <a:latin typeface="Arial" pitchFamily="34" charset="0"/>
                <a:ea typeface="Arial" pitchFamily="34" charset="-122"/>
                <a:cs typeface="Arial" pitchFamily="34" charset="-120"/>
              </a:rPr>
              <a:t>85 % → 0 %</a:t>
            </a:r>
            <a:endParaRPr lang="en-US" sz="3000" dirty="0"/>
          </a:p>
        </p:txBody>
      </p:sp>
      <p:sp>
        <p:nvSpPr>
          <p:cNvPr id="10" name="Text 8"/>
          <p:cNvSpPr txBox="1"/>
          <p:nvPr/>
        </p:nvSpPr>
        <p:spPr>
          <a:xfrm>
            <a:off x="4572000" y="2651760"/>
            <a:ext cx="3154680" cy="59436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Arial" pitchFamily="34" charset="0"/>
                <a:ea typeface="Arial" pitchFamily="34" charset="-122"/>
                <a:cs typeface="Arial" pitchFamily="34" charset="-120"/>
              </a:rPr>
              <a:t>contenedores llenos mal leídos como vacíos</a:t>
            </a:r>
            <a:endParaRPr lang="en-US" sz="1300" dirty="0"/>
          </a:p>
        </p:txBody>
      </p:sp>
      <p:sp>
        <p:nvSpPr>
          <p:cNvPr id="11" name="Text 9"/>
          <p:cNvSpPr txBox="1"/>
          <p:nvPr/>
        </p:nvSpPr>
        <p:spPr>
          <a:xfrm>
            <a:off x="4572000" y="3246120"/>
            <a:ext cx="3154680" cy="548640"/>
          </a:xfrm>
          <a:prstGeom prst="rect">
            <a:avLst/>
          </a:prstGeom>
          <a:noFill/>
          <a:ln/>
        </p:spPr>
        <p:txBody>
          <a:bodyPr wrap="square" lIns="0" tIns="0" rIns="0" bIns="0" rtlCol="0" anchor="ctr"/>
          <a:lstStyle/>
          <a:p>
            <a:pPr indent="0" marL="0">
              <a:lnSpc>
                <a:spcPct val="110000"/>
              </a:lnSpc>
              <a:buNone/>
            </a:pPr>
            <a:r>
              <a:rPr lang="en-US" sz="1050" i="1" dirty="0">
                <a:solidFill>
                  <a:srgbClr val="B9CBD9"/>
                </a:solidFill>
                <a:latin typeface="Arial" pitchFamily="34" charset="0"/>
                <a:ea typeface="Arial" pitchFamily="34" charset="-122"/>
                <a:cs typeface="Arial" pitchFamily="34" charset="-120"/>
              </a:rPr>
              <a:t>el indicador EQD se leía por el primer valor que coincidía</a:t>
            </a:r>
            <a:endParaRPr lang="en-US" sz="1050" dirty="0"/>
          </a:p>
        </p:txBody>
      </p:sp>
      <p:sp>
        <p:nvSpPr>
          <p:cNvPr id="12" name="Shape 10"/>
          <p:cNvSpPr/>
          <p:nvPr/>
        </p:nvSpPr>
        <p:spPr>
          <a:xfrm>
            <a:off x="8229600" y="1691640"/>
            <a:ext cx="3520440" cy="2148840"/>
          </a:xfrm>
          <a:prstGeom prst="roundRect">
            <a:avLst>
              <a:gd name="adj" fmla="val 4255"/>
            </a:avLst>
          </a:prstGeom>
          <a:solidFill>
            <a:srgbClr val="0B2545"/>
          </a:solidFill>
          <a:ln/>
        </p:spPr>
      </p:sp>
      <p:sp>
        <p:nvSpPr>
          <p:cNvPr id="13" name="Text 11"/>
          <p:cNvSpPr txBox="1"/>
          <p:nvPr/>
        </p:nvSpPr>
        <p:spPr>
          <a:xfrm>
            <a:off x="8412480" y="1920240"/>
            <a:ext cx="3154680" cy="685800"/>
          </a:xfrm>
          <a:prstGeom prst="rect">
            <a:avLst/>
          </a:prstGeom>
          <a:noFill/>
          <a:ln/>
        </p:spPr>
        <p:txBody>
          <a:bodyPr wrap="square" lIns="0" tIns="0" rIns="0" bIns="0" rtlCol="0" anchor="ctr"/>
          <a:lstStyle/>
          <a:p>
            <a:pPr indent="0" marL="0">
              <a:buNone/>
            </a:pPr>
            <a:r>
              <a:rPr lang="en-US" sz="3000" b="1" dirty="0">
                <a:solidFill>
                  <a:srgbClr val="6FCF97"/>
                </a:solidFill>
                <a:latin typeface="Arial" pitchFamily="34" charset="0"/>
                <a:ea typeface="Arial" pitchFamily="34" charset="-122"/>
                <a:cs typeface="Arial" pitchFamily="34" charset="-120"/>
              </a:rPr>
              <a:t>27 → 34</a:t>
            </a:r>
            <a:endParaRPr lang="en-US" sz="3000" dirty="0"/>
          </a:p>
        </p:txBody>
      </p:sp>
      <p:sp>
        <p:nvSpPr>
          <p:cNvPr id="14" name="Text 12"/>
          <p:cNvSpPr txBox="1"/>
          <p:nvPr/>
        </p:nvSpPr>
        <p:spPr>
          <a:xfrm>
            <a:off x="8412480" y="2651760"/>
            <a:ext cx="3154680" cy="594360"/>
          </a:xfrm>
          <a:prstGeom prst="rect">
            <a:avLst/>
          </a:prstGeom>
          <a:noFill/>
          <a:ln/>
        </p:spPr>
        <p:txBody>
          <a:bodyPr wrap="square" lIns="0" tIns="0" rIns="0" bIns="0" rtlCol="0" anchor="ctr"/>
          <a:lstStyle/>
          <a:p>
            <a:pPr indent="0" marL="0">
              <a:lnSpc>
                <a:spcPct val="115000"/>
              </a:lnSpc>
              <a:buNone/>
            </a:pPr>
            <a:r>
              <a:rPr lang="en-US" sz="1300" b="1" dirty="0">
                <a:solidFill>
                  <a:srgbClr val="FFFFFF"/>
                </a:solidFill>
                <a:latin typeface="Arial" pitchFamily="34" charset="0"/>
                <a:ea typeface="Arial" pitchFamily="34" charset="-122"/>
                <a:cs typeface="Arial" pitchFamily="34" charset="-120"/>
              </a:rPr>
              <a:t>bahías reales por archivo (CORPUS_A01)</a:t>
            </a:r>
            <a:endParaRPr lang="en-US" sz="1300" dirty="0"/>
          </a:p>
        </p:txBody>
      </p:sp>
      <p:sp>
        <p:nvSpPr>
          <p:cNvPr id="15" name="Text 13"/>
          <p:cNvSpPr txBox="1"/>
          <p:nvPr/>
        </p:nvSpPr>
        <p:spPr>
          <a:xfrm>
            <a:off x="8412480" y="3246120"/>
            <a:ext cx="3154680" cy="548640"/>
          </a:xfrm>
          <a:prstGeom prst="rect">
            <a:avLst/>
          </a:prstGeom>
          <a:noFill/>
          <a:ln/>
        </p:spPr>
        <p:txBody>
          <a:bodyPr wrap="square" lIns="0" tIns="0" rIns="0" bIns="0" rtlCol="0" anchor="ctr"/>
          <a:lstStyle/>
          <a:p>
            <a:pPr indent="0" marL="0">
              <a:lnSpc>
                <a:spcPct val="110000"/>
              </a:lnSpc>
              <a:buNone/>
            </a:pPr>
            <a:r>
              <a:rPr lang="en-US" sz="1050" i="1" dirty="0">
                <a:solidFill>
                  <a:srgbClr val="B9CBD9"/>
                </a:solidFill>
                <a:latin typeface="Arial" pitchFamily="34" charset="0"/>
                <a:ea typeface="Arial" pitchFamily="34" charset="-122"/>
                <a:cs typeface="Arial" pitchFamily="34" charset="-120"/>
              </a:rPr>
              <a:t>7 bahías impares solo con carga de sus vecinas, invisibles hasta ahora</a:t>
            </a:r>
            <a:endParaRPr lang="en-US" sz="1050" dirty="0"/>
          </a:p>
        </p:txBody>
      </p:sp>
      <p:sp>
        <p:nvSpPr>
          <p:cNvPr id="16" name="Text 14"/>
          <p:cNvSpPr txBox="1"/>
          <p:nvPr/>
        </p:nvSpPr>
        <p:spPr>
          <a:xfrm>
            <a:off x="548640" y="4160520"/>
            <a:ext cx="1828800" cy="320040"/>
          </a:xfrm>
          <a:prstGeom prst="rect">
            <a:avLst/>
          </a:prstGeom>
          <a:noFill/>
          <a:ln/>
        </p:spPr>
        <p:txBody>
          <a:bodyPr wrap="square" lIns="0" tIns="0" rIns="0" bIns="0" rtlCol="0" anchor="ctr"/>
          <a:lstStyle/>
          <a:p>
            <a:pPr indent="0" marL="0">
              <a:buNone/>
            </a:pPr>
            <a:r>
              <a:rPr lang="en-US" sz="1300" b="1" dirty="0">
                <a:solidFill>
                  <a:srgbClr val="065A82"/>
                </a:solidFill>
                <a:latin typeface="Arial" pitchFamily="34" charset="0"/>
                <a:ea typeface="Arial" pitchFamily="34" charset="-122"/>
                <a:cs typeface="Arial" pitchFamily="34" charset="-120"/>
              </a:rPr>
              <a:t>Además:</a:t>
            </a:r>
            <a:endParaRPr lang="en-US" sz="1300" dirty="0"/>
          </a:p>
        </p:txBody>
      </p:sp>
      <p:sp>
        <p:nvSpPr>
          <p:cNvPr id="17" name="Shape 15"/>
          <p:cNvSpPr/>
          <p:nvPr/>
        </p:nvSpPr>
        <p:spPr>
          <a:xfrm>
            <a:off x="548640" y="4553712"/>
            <a:ext cx="109728" cy="109728"/>
          </a:xfrm>
          <a:prstGeom prst="ellipse">
            <a:avLst/>
          </a:prstGeom>
          <a:solidFill>
            <a:srgbClr val="1C7293"/>
          </a:solidFill>
          <a:ln/>
        </p:spPr>
      </p:sp>
      <p:sp>
        <p:nvSpPr>
          <p:cNvPr id="18" name="Text 16"/>
          <p:cNvSpPr txBox="1"/>
          <p:nvPr/>
        </p:nvSpPr>
        <p:spPr>
          <a:xfrm>
            <a:off x="822960" y="4462272"/>
            <a:ext cx="10789920" cy="502920"/>
          </a:xfrm>
          <a:prstGeom prst="rect">
            <a:avLst/>
          </a:prstGeom>
          <a:noFill/>
          <a:ln/>
        </p:spPr>
        <p:txBody>
          <a:bodyPr wrap="square" lIns="0" tIns="0" rIns="0" bIns="0" rtlCol="0" anchor="ctr"/>
          <a:lstStyle/>
          <a:p>
            <a:pPr indent="0" marL="0">
              <a:lnSpc>
                <a:spcPct val="110000"/>
              </a:lnSpc>
              <a:buNone/>
            </a:pPr>
            <a:r>
              <a:rPr lang="en-US" sz="1250" dirty="0">
                <a:solidFill>
                  <a:srgbClr val="1F2A33"/>
                </a:solidFill>
                <a:latin typeface="Arial" pitchFamily="34" charset="0"/>
                <a:ea typeface="Arial" pitchFamily="34" charset="-122"/>
                <a:cs typeface="Arial" pitchFamily="34" charset="-120"/>
              </a:rPr>
              <a:t>CORPUS_A06 no abría — el bloque del nombre del buque aparece en otra posición del segmento TDT en ese archivo.</a:t>
            </a:r>
            <a:endParaRPr lang="en-US" sz="1250" dirty="0"/>
          </a:p>
        </p:txBody>
      </p:sp>
      <p:sp>
        <p:nvSpPr>
          <p:cNvPr id="19" name="Shape 17"/>
          <p:cNvSpPr/>
          <p:nvPr/>
        </p:nvSpPr>
        <p:spPr>
          <a:xfrm>
            <a:off x="548640" y="5120640"/>
            <a:ext cx="109728" cy="109728"/>
          </a:xfrm>
          <a:prstGeom prst="ellipse">
            <a:avLst/>
          </a:prstGeom>
          <a:solidFill>
            <a:srgbClr val="1C7293"/>
          </a:solidFill>
          <a:ln/>
        </p:spPr>
      </p:sp>
      <p:sp>
        <p:nvSpPr>
          <p:cNvPr id="20" name="Text 18"/>
          <p:cNvSpPr txBox="1"/>
          <p:nvPr/>
        </p:nvSpPr>
        <p:spPr>
          <a:xfrm>
            <a:off x="822960" y="5029200"/>
            <a:ext cx="10789920" cy="502920"/>
          </a:xfrm>
          <a:prstGeom prst="rect">
            <a:avLst/>
          </a:prstGeom>
          <a:noFill/>
          <a:ln/>
        </p:spPr>
        <p:txBody>
          <a:bodyPr wrap="square" lIns="0" tIns="0" rIns="0" bIns="0" rtlCol="0" anchor="ctr"/>
          <a:lstStyle/>
          <a:p>
            <a:pPr indent="0" marL="0">
              <a:lnSpc>
                <a:spcPct val="110000"/>
              </a:lnSpc>
              <a:buNone/>
            </a:pPr>
            <a:r>
              <a:rPr lang="en-US" sz="1250" dirty="0">
                <a:solidFill>
                  <a:srgbClr val="1F2A33"/>
                </a:solidFill>
                <a:latin typeface="Arial" pitchFamily="34" charset="0"/>
                <a:ea typeface="Arial" pitchFamily="34" charset="-122"/>
                <a:cs typeface="Arial" pitchFamily="34" charset="-120"/>
              </a:rPr>
              <a:t>El puerto de esta escala se proponía por conteo (apuesta) en vez de leer el LOC+5 declarado en la cabecera — equivocado en 5 de 6 archivos.</a:t>
            </a:r>
            <a:endParaRPr lang="en-US" sz="1250" dirty="0"/>
          </a:p>
        </p:txBody>
      </p:sp>
      <p:sp>
        <p:nvSpPr>
          <p:cNvPr id="21" name="Text 19"/>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B6B76"/>
                </a:solidFill>
                <a:latin typeface="Arial" pitchFamily="34" charset="0"/>
                <a:ea typeface="Arial" pitchFamily="34" charset="-122"/>
                <a:cs typeface="Arial"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65A82"/>
                </a:solidFill>
                <a:latin typeface="Arial" pitchFamily="34" charset="0"/>
                <a:ea typeface="Arial" pitchFamily="34" charset="-122"/>
                <a:cs typeface="Arial" pitchFamily="34" charset="-120"/>
              </a:rPr>
              <a:t>III.C — PUERTO DE ESTA ESCALA (LOC+5)</a:t>
            </a:r>
            <a:endParaRPr lang="en-US" sz="12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2800" b="1" dirty="0">
                <a:solidFill>
                  <a:srgbClr val="0B2545"/>
                </a:solidFill>
                <a:latin typeface="Arial" pitchFamily="34" charset="0"/>
                <a:ea typeface="Arial" pitchFamily="34" charset="-122"/>
                <a:cs typeface="Arial" pitchFamily="34" charset="-120"/>
              </a:rPr>
              <a:t>Contar el más frecuente falla en 5 de 6 archivos</a:t>
            </a:r>
            <a:endParaRPr lang="en-US" sz="2800" dirty="0"/>
          </a:p>
        </p:txBody>
      </p:sp>
      <p:sp>
        <p:nvSpPr>
          <p:cNvPr id="4" name="Text 2"/>
          <p:cNvSpPr txBox="1"/>
          <p:nvPr/>
        </p:nvSpPr>
        <p:spPr>
          <a:xfrm>
            <a:off x="548640" y="1600200"/>
            <a:ext cx="11064240" cy="822960"/>
          </a:xfrm>
          <a:prstGeom prst="rect">
            <a:avLst/>
          </a:prstGeom>
          <a:noFill/>
          <a:ln/>
        </p:spPr>
        <p:txBody>
          <a:bodyPr wrap="square" lIns="0" tIns="0" rIns="0" bIns="0" rtlCol="0" anchor="ctr"/>
          <a:lstStyle/>
          <a:p>
            <a:pPr indent="0" marL="0">
              <a:lnSpc>
                <a:spcPct val="120000"/>
              </a:lnSpc>
              <a:buNone/>
            </a:pPr>
            <a:r>
              <a:rPr lang="en-US" sz="1300" dirty="0">
                <a:solidFill>
                  <a:srgbClr val="1F2A33"/>
                </a:solidFill>
                <a:latin typeface="Arial" pitchFamily="34" charset="0"/>
                <a:ea typeface="Arial" pitchFamily="34" charset="-122"/>
                <a:cs typeface="Arial" pitchFamily="34" charset="-120"/>
              </a:rPr>
              <a:t>El sistema proponía el puerto de esta escala contando cuál puerto de carga (LOC+9, uno por contenedor) era el más frecuente. Es una apuesta, no un dato: el archivo declara además, una sola vez en la cabecera, el puerto de salida real (LOC+5).</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606040"/>
          <a:ext cx="11064240" cy="3200400"/>
        </p:xfrm>
        <a:graphic>
          <a:graphicData uri="http://schemas.openxmlformats.org/drawingml/2006/table">
            <a:tbl>
              <a:tblPr/>
              <a:tblGrid>
                <a:gridCol w="3017520"/>
                <a:gridCol w="2286000"/>
                <a:gridCol w="3566160"/>
                <a:gridCol w="2194560"/>
              </a:tblGrid>
              <a:tr h="457200">
                <a:tc>
                  <a:txBody>
                    <a:bodyPr/>
                    <a:lstStyle/>
                    <a:p>
                      <a:pPr indent="0" marL="0">
                        <a:buNone/>
                      </a:pPr>
                      <a:r>
                        <a:rPr lang="en-US" sz="1300" b="1" dirty="0">
                          <a:solidFill>
                            <a:srgbClr val="FFFFFF"/>
                          </a:solidFill>
                          <a:latin typeface="Arial" pitchFamily="34" charset="0"/>
                          <a:ea typeface="Arial" pitchFamily="34" charset="-122"/>
                          <a:cs typeface="Arial" pitchFamily="34" charset="-120"/>
                        </a:rPr>
                        <a:t>Archivo</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LOC+5 (declarado)</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065A82"/>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LOC+9 más frecuente</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065A82"/>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¿Coincide?</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065A82"/>
                    </a:solidFill>
                  </a:tcPr>
                </a:tc>
              </a:tr>
              <a:tr h="457200">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CORPUS_A01</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GTPBR</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HNPCR (457 de 977)</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85042"/>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CORPUS_A02</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EAF3F8"/>
                    </a:solidFill>
                  </a:tcPr>
                </a:tc>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HNPCR</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EAF3F8"/>
                    </a:solidFill>
                  </a:tcPr>
                </a:tc>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COCTG (477 de 806)</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EAF3F8"/>
                    </a:solidFill>
                  </a:tcPr>
                </a:tc>
                <a:tc>
                  <a:txBody>
                    <a:bodyPr/>
                    <a:lstStyle/>
                    <a:p>
                      <a:pPr algn="ctr" indent="0" marL="0">
                        <a:buNone/>
                      </a:pPr>
                      <a:r>
                        <a:rPr lang="en-US" sz="1300" b="1" dirty="0">
                          <a:solidFill>
                            <a:srgbClr val="B85042"/>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EAF3F8"/>
                    </a:solidFill>
                  </a:tcPr>
                </a:tc>
              </a:tr>
              <a:tr h="457200">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CORPUS_A03 / A03v</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HNPCR</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JMKIN (195 de 369)</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B85042"/>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CORPUS_A04</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EAF3F8"/>
                    </a:solidFill>
                  </a:tcPr>
                </a:tc>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GTSTC</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EAF3F8"/>
                    </a:solidFill>
                  </a:tcPr>
                </a:tc>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VEPBL (477 de 979)</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EAF3F8"/>
                    </a:solidFill>
                  </a:tcPr>
                </a:tc>
                <a:tc>
                  <a:txBody>
                    <a:bodyPr/>
                    <a:lstStyle/>
                    <a:p>
                      <a:pPr algn="ctr" indent="0" marL="0">
                        <a:buNone/>
                      </a:pPr>
                      <a:r>
                        <a:rPr lang="en-US" sz="1300" b="1" dirty="0">
                          <a:solidFill>
                            <a:srgbClr val="B85042"/>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EAF3F8"/>
                    </a:solidFill>
                  </a:tcPr>
                </a:tc>
              </a:tr>
              <a:tr h="457200">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CORPUS_A05</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GTPBR</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GTPBR (382 de 736)</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2C6E49"/>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FFFFFF"/>
                    </a:solidFill>
                  </a:tcPr>
                </a:tc>
              </a:tr>
              <a:tr h="457200">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CORPUS_A06</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EAF3F8"/>
                    </a:solidFill>
                  </a:tcPr>
                </a:tc>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GTPBR</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EAF3F8"/>
                    </a:solidFill>
                  </a:tcPr>
                </a:tc>
                <a:tc>
                  <a:txBody>
                    <a:bodyPr/>
                    <a:lstStyle/>
                    <a:p>
                      <a:pPr algn="l" indent="0" marL="0">
                        <a:buNone/>
                      </a:pPr>
                      <a:r>
                        <a:rPr lang="en-US" sz="1300" dirty="0">
                          <a:solidFill>
                            <a:srgbClr val="1F2A33"/>
                          </a:solidFill>
                          <a:latin typeface="Arial" pitchFamily="34" charset="0"/>
                          <a:ea typeface="Arial" pitchFamily="34" charset="-122"/>
                          <a:cs typeface="Arial" pitchFamily="34" charset="-120"/>
                        </a:rPr>
                        <a:t>— (no trae LOC+9)</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EAF3F8"/>
                    </a:solidFill>
                  </a:tcPr>
                </a:tc>
                <a:tc>
                  <a:txBody>
                    <a:bodyPr/>
                    <a:lstStyle/>
                    <a:p>
                      <a:pPr algn="ctr" indent="0" marL="0">
                        <a:buNone/>
                      </a:pPr>
                      <a:r>
                        <a:rPr lang="en-US" sz="1300" b="1" dirty="0">
                          <a:solidFill>
                            <a:srgbClr val="5B6B76"/>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91440" marR="91440" marT="45720" marB="45720" anchor="ctr">
                    <a:lnL w="9525" cap="flat" cmpd="sng" algn="ctr">
                      <a:solidFill>
                        <a:srgbClr val="C9D8E0"/>
                      </a:solidFill>
                      <a:prstDash val="solid"/>
                      <a:round/>
                      <a:headEnd type="none" w="med" len="med"/>
                      <a:tailEnd type="none" w="med" len="med"/>
                    </a:lnL>
                    <a:lnR w="9525" cap="flat" cmpd="sng" algn="ctr">
                      <a:solidFill>
                        <a:srgbClr val="C9D8E0"/>
                      </a:solidFill>
                      <a:prstDash val="solid"/>
                      <a:round/>
                      <a:headEnd type="none" w="med" len="med"/>
                      <a:tailEnd type="none" w="med" len="med"/>
                    </a:lnR>
                    <a:lnT w="9525" cap="flat" cmpd="sng" algn="ctr">
                      <a:solidFill>
                        <a:srgbClr val="C9D8E0"/>
                      </a:solidFill>
                      <a:prstDash val="solid"/>
                      <a:round/>
                      <a:headEnd type="none" w="med" len="med"/>
                      <a:tailEnd type="none" w="med" len="med"/>
                    </a:lnT>
                    <a:lnB w="9525" cap="flat" cmpd="sng" algn="ctr">
                      <a:solidFill>
                        <a:srgbClr val="C9D8E0"/>
                      </a:solidFill>
                      <a:prstDash val="solid"/>
                      <a:round/>
                      <a:headEnd type="none" w="med" len="med"/>
                      <a:tailEnd type="none" w="med" len="med"/>
                    </a:lnB>
                    <a:solidFill>
                      <a:srgbClr val="EAF3F8"/>
                    </a:solidFill>
                  </a:tcPr>
                </a:tc>
              </a:tr>
            </a:tbl>
          </a:graphicData>
        </a:graphic>
      </p:graphicFrame>
      <p:sp>
        <p:nvSpPr>
          <p:cNvPr id="6" name="Text 3"/>
          <p:cNvSpPr txBox="1"/>
          <p:nvPr/>
        </p:nvSpPr>
        <p:spPr>
          <a:xfrm>
            <a:off x="548640" y="5989320"/>
            <a:ext cx="11064240" cy="457200"/>
          </a:xfrm>
          <a:prstGeom prst="rect">
            <a:avLst/>
          </a:prstGeom>
          <a:noFill/>
          <a:ln/>
        </p:spPr>
        <p:txBody>
          <a:bodyPr wrap="square" lIns="0" tIns="0" rIns="0" bIns="0" rtlCol="0" anchor="ctr"/>
          <a:lstStyle/>
          <a:p>
            <a:pPr indent="0" marL="0">
              <a:buNone/>
            </a:pPr>
            <a:r>
              <a:rPr lang="en-US" sz="1150" i="1" dirty="0">
                <a:solidFill>
                  <a:srgbClr val="5B6B76"/>
                </a:solidFill>
                <a:latin typeface="Arial" pitchFamily="34" charset="0"/>
                <a:ea typeface="Arial" pitchFamily="34" charset="-122"/>
                <a:cs typeface="Arial" pitchFamily="34" charset="-120"/>
              </a:rPr>
              <a:t>El séptimo archivo, CORPUS_A06, no tiene un solo LOC+9: antes no proponía ningún puerto, ni bien ni mal — es un caso distinto al de los cinco que proponían un valor equivocado.</a:t>
            </a:r>
            <a:endParaRPr lang="en-US" sz="1150" dirty="0"/>
          </a:p>
        </p:txBody>
      </p:sp>
      <p:sp>
        <p:nvSpPr>
          <p:cNvPr id="7" name="Text 4"/>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B6B76"/>
                </a:solidFill>
                <a:latin typeface="Arial" pitchFamily="34" charset="0"/>
                <a:ea typeface="Arial" pitchFamily="34" charset="-122"/>
                <a:cs typeface="Arial"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65A82"/>
                </a:solidFill>
                <a:latin typeface="Arial" pitchFamily="34" charset="0"/>
                <a:ea typeface="Arial" pitchFamily="34" charset="-122"/>
                <a:cs typeface="Arial" pitchFamily="34" charset="-120"/>
              </a:rPr>
              <a:t>III.D — BAHÍAS OCUPADAS SIN CARGA PROPIA</a:t>
            </a:r>
            <a:endParaRPr lang="en-US" sz="12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2800" b="1" dirty="0">
                <a:solidFill>
                  <a:srgbClr val="0B2545"/>
                </a:solidFill>
                <a:latin typeface="Arial" pitchFamily="34" charset="0"/>
                <a:ea typeface="Arial" pitchFamily="34" charset="-122"/>
                <a:cs typeface="Arial" pitchFamily="34" charset="-120"/>
              </a:rPr>
              <a:t>Bahías «invisibles»: hasta 50 % del buque no se veía</a:t>
            </a:r>
            <a:endParaRPr lang="en-US" sz="2800" dirty="0"/>
          </a:p>
        </p:txBody>
      </p:sp>
      <p:sp>
        <p:nvSpPr>
          <p:cNvPr id="4" name="Text 2"/>
          <p:cNvSpPr txBox="1"/>
          <p:nvPr/>
        </p:nvSpPr>
        <p:spPr>
          <a:xfrm>
            <a:off x="548640" y="1554480"/>
            <a:ext cx="11064240" cy="777240"/>
          </a:xfrm>
          <a:prstGeom prst="rect">
            <a:avLst/>
          </a:prstGeom>
          <a:noFill/>
          <a:ln/>
        </p:spPr>
        <p:txBody>
          <a:bodyPr wrap="square" lIns="0" tIns="0" rIns="0" bIns="0" rtlCol="0" anchor="ctr"/>
          <a:lstStyle/>
          <a:p>
            <a:pPr indent="0" marL="0">
              <a:lnSpc>
                <a:spcPct val="120000"/>
              </a:lnSpc>
              <a:buNone/>
            </a:pPr>
            <a:r>
              <a:rPr lang="en-US" sz="1300" dirty="0">
                <a:solidFill>
                  <a:srgbClr val="1F2A33"/>
                </a:solidFill>
                <a:latin typeface="Arial" pitchFamily="34" charset="0"/>
                <a:ea typeface="Arial" pitchFamily="34" charset="-122"/>
                <a:cs typeface="Arial" pitchFamily="34" charset="-120"/>
              </a:rPr>
              <a:t>Un contenedor de 40/45 pies, estibado en bahía par, ocupa físicamente slots en las bahías impares vecinas. Antes de esta corrección, una bahía sin carga propia no aparecía en el plano en absoluto, aunque estuviera físicamente ocupada.</a:t>
            </a:r>
            <a:endParaRPr lang="en-US" sz="1300" dirty="0"/>
          </a:p>
        </p:txBody>
      </p:sp>
      <p:graphicFrame>
        <p:nvGraphicFramePr>
          <p:cNvPr id="5" name="Chart 0" descr=""/>
          <p:cNvGraphicFramePr/>
          <p:nvPr/>
        </p:nvGraphicFramePr>
        <p:xfrm>
          <a:off x="548640" y="2423160"/>
          <a:ext cx="7406640" cy="3977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8229600" y="2423160"/>
            <a:ext cx="3429000" cy="3977640"/>
          </a:xfrm>
          <a:prstGeom prst="roundRect">
            <a:avLst>
              <a:gd name="adj" fmla="val 2667"/>
            </a:avLst>
          </a:prstGeom>
          <a:solidFill>
            <a:srgbClr val="0B2545"/>
          </a:solidFill>
          <a:ln/>
        </p:spPr>
      </p:sp>
      <p:sp>
        <p:nvSpPr>
          <p:cNvPr id="7" name="Text 4"/>
          <p:cNvSpPr txBox="1"/>
          <p:nvPr/>
        </p:nvSpPr>
        <p:spPr>
          <a:xfrm>
            <a:off x="8503920" y="2697480"/>
            <a:ext cx="2880360" cy="274320"/>
          </a:xfrm>
          <a:prstGeom prst="rect">
            <a:avLst/>
          </a:prstGeom>
          <a:noFill/>
          <a:ln/>
        </p:spPr>
        <p:txBody>
          <a:bodyPr wrap="square" lIns="0" tIns="0" rIns="0" bIns="0" rtlCol="0" anchor="ctr"/>
          <a:lstStyle/>
          <a:p>
            <a:pPr indent="0" marL="0">
              <a:buNone/>
            </a:pPr>
            <a:r>
              <a:rPr lang="en-US" sz="1100" b="1" spc="150" kern="0" dirty="0">
                <a:solidFill>
                  <a:srgbClr val="9FC1D9"/>
                </a:solidFill>
                <a:latin typeface="Arial" pitchFamily="34" charset="0"/>
                <a:ea typeface="Arial" pitchFamily="34" charset="-122"/>
                <a:cs typeface="Arial" pitchFamily="34" charset="-120"/>
              </a:rPr>
              <a:t>EL CASO MÁS EXTREMO</a:t>
            </a:r>
            <a:endParaRPr lang="en-US" sz="1100" dirty="0"/>
          </a:p>
        </p:txBody>
      </p:sp>
      <p:sp>
        <p:nvSpPr>
          <p:cNvPr id="8" name="Text 5"/>
          <p:cNvSpPr txBox="1"/>
          <p:nvPr/>
        </p:nvSpPr>
        <p:spPr>
          <a:xfrm>
            <a:off x="8503920" y="3017520"/>
            <a:ext cx="2880360" cy="36576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CORPUS_A03</a:t>
            </a:r>
            <a:endParaRPr lang="en-US" sz="2000" dirty="0"/>
          </a:p>
        </p:txBody>
      </p:sp>
      <p:sp>
        <p:nvSpPr>
          <p:cNvPr id="9" name="Text 6"/>
          <p:cNvSpPr txBox="1"/>
          <p:nvPr/>
        </p:nvSpPr>
        <p:spPr>
          <a:xfrm>
            <a:off x="8503920" y="3520440"/>
            <a:ext cx="2880360" cy="411480"/>
          </a:xfrm>
          <a:prstGeom prst="rect">
            <a:avLst/>
          </a:prstGeom>
          <a:noFill/>
          <a:ln/>
        </p:spPr>
        <p:txBody>
          <a:bodyPr wrap="square" lIns="0" tIns="0" rIns="0" bIns="0" rtlCol="0" anchor="ctr"/>
          <a:lstStyle/>
          <a:p>
            <a:pPr indent="0" marL="0">
              <a:buNone/>
            </a:pPr>
            <a:r>
              <a:rPr lang="en-US" sz="2400" b="1" dirty="0">
                <a:solidFill>
                  <a:srgbClr val="B85042"/>
                </a:solidFill>
                <a:latin typeface="Arial" pitchFamily="34" charset="0"/>
                <a:ea typeface="Arial" pitchFamily="34" charset="-122"/>
                <a:cs typeface="Arial" pitchFamily="34" charset="-120"/>
              </a:rPr>
              <a:t>13 invisibles</a:t>
            </a:r>
            <a:endParaRPr lang="en-US" sz="2400" dirty="0"/>
          </a:p>
        </p:txBody>
      </p:sp>
      <p:sp>
        <p:nvSpPr>
          <p:cNvPr id="10" name="Text 7"/>
          <p:cNvSpPr txBox="1"/>
          <p:nvPr/>
        </p:nvSpPr>
        <p:spPr>
          <a:xfrm>
            <a:off x="8503920" y="3977640"/>
            <a:ext cx="2880360" cy="320040"/>
          </a:xfrm>
          <a:prstGeom prst="rect">
            <a:avLst/>
          </a:prstGeom>
          <a:noFill/>
          <a:ln/>
        </p:spPr>
        <p:txBody>
          <a:bodyPr wrap="square" lIns="0" tIns="0" rIns="0" bIns="0" rtlCol="0" anchor="ctr"/>
          <a:lstStyle/>
          <a:p>
            <a:pPr indent="0" marL="0">
              <a:buNone/>
            </a:pPr>
            <a:r>
              <a:rPr lang="en-US" sz="1200" i="1" dirty="0">
                <a:solidFill>
                  <a:srgbClr val="B9CBD9"/>
                </a:solidFill>
                <a:latin typeface="Arial" pitchFamily="34" charset="0"/>
                <a:ea typeface="Arial" pitchFamily="34" charset="-122"/>
                <a:cs typeface="Arial" pitchFamily="34" charset="-120"/>
              </a:rPr>
              <a:t>casi iguala a las 14 visibles</a:t>
            </a:r>
            <a:endParaRPr lang="en-US" sz="1200" dirty="0"/>
          </a:p>
        </p:txBody>
      </p:sp>
      <p:sp>
        <p:nvSpPr>
          <p:cNvPr id="11" name="Text 8"/>
          <p:cNvSpPr txBox="1"/>
          <p:nvPr/>
        </p:nvSpPr>
        <p:spPr>
          <a:xfrm>
            <a:off x="8503920" y="4434840"/>
            <a:ext cx="2880360" cy="173736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El plano anterior mostraba poco más de la mitad de las bahías físicamente ocupadas del buque.</a:t>
            </a:r>
            <a:endParaRPr lang="en-US" sz="1200" dirty="0"/>
          </a:p>
        </p:txBody>
      </p:sp>
      <p:sp>
        <p:nvSpPr>
          <p:cNvPr id="12" name="Text 9"/>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B6B76"/>
                </a:solidFill>
                <a:latin typeface="Arial" pitchFamily="34" charset="0"/>
                <a:ea typeface="Arial" pitchFamily="34" charset="-122"/>
                <a:cs typeface="Arial"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65A82"/>
                </a:solidFill>
                <a:latin typeface="Arial" pitchFamily="34" charset="0"/>
                <a:ea typeface="Arial" pitchFamily="34" charset="-122"/>
                <a:cs typeface="Arial" pitchFamily="34" charset="-120"/>
              </a:rPr>
              <a:t>IV–V. DECISIONES DE PRODUCTO  ·  PENDIENTES SIN CERRAR</a:t>
            </a:r>
            <a:endParaRPr lang="en-US" sz="12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2800" b="1" dirty="0">
                <a:solidFill>
                  <a:srgbClr val="0B2545"/>
                </a:solidFill>
                <a:latin typeface="Arial" pitchFamily="34" charset="0"/>
                <a:ea typeface="Arial" pitchFamily="34" charset="-122"/>
                <a:cs typeface="Arial" pitchFamily="34" charset="-120"/>
              </a:rPr>
              <a:t>Una decisión tomada, tres anotaciones abiertas</a:t>
            </a:r>
            <a:endParaRPr lang="en-US" sz="2800" dirty="0"/>
          </a:p>
        </p:txBody>
      </p:sp>
      <p:sp>
        <p:nvSpPr>
          <p:cNvPr id="4" name="Shape 2"/>
          <p:cNvSpPr/>
          <p:nvPr/>
        </p:nvSpPr>
        <p:spPr>
          <a:xfrm>
            <a:off x="548640" y="1600200"/>
            <a:ext cx="5349240" cy="4434840"/>
          </a:xfrm>
          <a:prstGeom prst="roundRect">
            <a:avLst>
              <a:gd name="adj" fmla="val 2062"/>
            </a:avLst>
          </a:prstGeom>
          <a:solidFill>
            <a:srgbClr val="EAF3F8"/>
          </a:solidFill>
          <a:ln w="12700">
            <a:solidFill>
              <a:srgbClr val="C9D8E0"/>
            </a:solidFill>
            <a:prstDash val="solid"/>
          </a:ln>
        </p:spPr>
      </p:sp>
      <p:sp>
        <p:nvSpPr>
          <p:cNvPr id="5" name="Shape 3"/>
          <p:cNvSpPr/>
          <p:nvPr/>
        </p:nvSpPr>
        <p:spPr>
          <a:xfrm>
            <a:off x="822960" y="1828800"/>
            <a:ext cx="1737360" cy="365760"/>
          </a:xfrm>
          <a:prstGeom prst="roundRect">
            <a:avLst>
              <a:gd name="adj" fmla="val 20000"/>
            </a:avLst>
          </a:prstGeom>
          <a:solidFill>
            <a:srgbClr val="2C6E49"/>
          </a:solidFill>
          <a:ln/>
        </p:spPr>
      </p:sp>
      <p:sp>
        <p:nvSpPr>
          <p:cNvPr id="6" name="Text 4"/>
          <p:cNvSpPr txBox="1"/>
          <p:nvPr/>
        </p:nvSpPr>
        <p:spPr>
          <a:xfrm>
            <a:off x="822960" y="1828800"/>
            <a:ext cx="1737360" cy="36576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DECISIÓN TOMADA</a:t>
            </a:r>
            <a:endParaRPr lang="en-US" sz="1050" dirty="0"/>
          </a:p>
        </p:txBody>
      </p:sp>
      <p:sp>
        <p:nvSpPr>
          <p:cNvPr id="7" name="Text 5"/>
          <p:cNvSpPr txBox="1"/>
          <p:nvPr/>
        </p:nvSpPr>
        <p:spPr>
          <a:xfrm>
            <a:off x="822960" y="2331720"/>
            <a:ext cx="4800600" cy="548640"/>
          </a:xfrm>
          <a:prstGeom prst="rect">
            <a:avLst/>
          </a:prstGeom>
          <a:noFill/>
          <a:ln/>
        </p:spPr>
        <p:txBody>
          <a:bodyPr wrap="square" lIns="0" tIns="0" rIns="0" bIns="0" rtlCol="0" anchor="ctr"/>
          <a:lstStyle/>
          <a:p>
            <a:pPr indent="0" marL="0">
              <a:lnSpc>
                <a:spcPct val="110000"/>
              </a:lnSpc>
              <a:buNone/>
            </a:pPr>
            <a:r>
              <a:rPr lang="en-US" sz="1700" b="1" dirty="0">
                <a:solidFill>
                  <a:srgbClr val="0B2545"/>
                </a:solidFill>
                <a:latin typeface="Arial" pitchFamily="34" charset="0"/>
                <a:ea typeface="Arial" pitchFamily="34" charset="-122"/>
                <a:cs typeface="Arial" pitchFamily="34" charset="-120"/>
              </a:rPr>
              <a:t>El conteo de «bahías» se mantiene en 34</a:t>
            </a:r>
            <a:endParaRPr lang="en-US" sz="1700" dirty="0"/>
          </a:p>
        </p:txBody>
      </p:sp>
      <p:sp>
        <p:nvSpPr>
          <p:cNvPr id="8" name="Text 6"/>
          <p:cNvSpPr txBox="1"/>
          <p:nvPr/>
        </p:nvSpPr>
        <p:spPr>
          <a:xfrm>
            <a:off x="822960" y="2971800"/>
            <a:ext cx="4800600" cy="1371600"/>
          </a:xfrm>
          <a:prstGeom prst="rect">
            <a:avLst/>
          </a:prstGeom>
          <a:noFill/>
          <a:ln/>
        </p:spPr>
        <p:txBody>
          <a:bodyPr wrap="square" lIns="0" tIns="0" rIns="0" bIns="0" rtlCol="0" anchor="ctr"/>
          <a:lstStyle/>
          <a:p>
            <a:pPr indent="0" marL="0">
              <a:lnSpc>
                <a:spcPct val="125000"/>
              </a:lnSpc>
              <a:buNone/>
            </a:pPr>
            <a:r>
              <a:rPr lang="en-US" sz="1250" dirty="0">
                <a:solidFill>
                  <a:srgbClr val="1F2A33"/>
                </a:solidFill>
                <a:latin typeface="Arial" pitchFamily="34" charset="0"/>
                <a:ea typeface="Arial" pitchFamily="34" charset="-122"/>
                <a:cs typeface="Arial" pitchFamily="34" charset="-120"/>
              </a:rPr>
              <a:t>No vuelve a 27. El número de 27 es el que este mismo proceso demostró que esconde una séptima parte del buque realmente ocupado; volver a 27 equivaldría a deshacer la corrección en el reporte que más consulta un planificador de estiba.</a:t>
            </a:r>
            <a:endParaRPr lang="en-US" sz="1250" dirty="0"/>
          </a:p>
        </p:txBody>
      </p:sp>
      <p:sp>
        <p:nvSpPr>
          <p:cNvPr id="9" name="Text 7"/>
          <p:cNvSpPr txBox="1"/>
          <p:nvPr/>
        </p:nvSpPr>
        <p:spPr>
          <a:xfrm>
            <a:off x="822960" y="4526280"/>
            <a:ext cx="4800600" cy="1234440"/>
          </a:xfrm>
          <a:prstGeom prst="rect">
            <a:avLst/>
          </a:prstGeom>
          <a:noFill/>
          <a:ln/>
        </p:spPr>
        <p:txBody>
          <a:bodyPr wrap="square" lIns="0" tIns="0" rIns="0" bIns="0" rtlCol="0" anchor="ctr"/>
          <a:lstStyle/>
          <a:p>
            <a:pPr indent="0" marL="0">
              <a:lnSpc>
                <a:spcPct val="125000"/>
              </a:lnSpc>
              <a:buNone/>
            </a:pPr>
            <a:r>
              <a:rPr lang="en-US" sz="1250" i="1" dirty="0">
                <a:solidFill>
                  <a:srgbClr val="5B6B76"/>
                </a:solidFill>
                <a:latin typeface="Arial" pitchFamily="34" charset="0"/>
                <a:ea typeface="Arial" pitchFamily="34" charset="-122"/>
                <a:cs typeface="Arial" pitchFamily="34" charset="-120"/>
              </a:rPr>
              <a:t>Queda pendiente, sin ser bloqueante, una aclaración visual de qué esas 34 bahías, 7 no tienen contenedor propio.</a:t>
            </a:r>
            <a:endParaRPr lang="en-US" sz="1250" dirty="0"/>
          </a:p>
        </p:txBody>
      </p:sp>
      <p:sp>
        <p:nvSpPr>
          <p:cNvPr id="10" name="Shape 8"/>
          <p:cNvSpPr/>
          <p:nvPr/>
        </p:nvSpPr>
        <p:spPr>
          <a:xfrm>
            <a:off x="6172200" y="1600200"/>
            <a:ext cx="5486400" cy="1417320"/>
          </a:xfrm>
          <a:prstGeom prst="roundRect">
            <a:avLst>
              <a:gd name="adj" fmla="val 6452"/>
            </a:avLst>
          </a:prstGeom>
          <a:solidFill>
            <a:srgbClr val="FFFFFF"/>
          </a:solidFill>
          <a:ln w="15875">
            <a:solidFill>
              <a:srgbClr val="B85042"/>
            </a:solidFill>
            <a:prstDash val="solid"/>
          </a:ln>
        </p:spPr>
      </p:sp>
      <p:sp>
        <p:nvSpPr>
          <p:cNvPr id="11" name="Shape 9"/>
          <p:cNvSpPr/>
          <p:nvPr/>
        </p:nvSpPr>
        <p:spPr>
          <a:xfrm>
            <a:off x="6373368" y="1801368"/>
            <a:ext cx="365760" cy="365760"/>
          </a:xfrm>
          <a:prstGeom prst="ellipse">
            <a:avLst/>
          </a:prstGeom>
          <a:solidFill>
            <a:srgbClr val="B85042"/>
          </a:solidFill>
          <a:ln/>
        </p:spPr>
      </p:sp>
      <p:sp>
        <p:nvSpPr>
          <p:cNvPr id="12" name="Text 10"/>
          <p:cNvSpPr txBox="1"/>
          <p:nvPr/>
        </p:nvSpPr>
        <p:spPr>
          <a:xfrm>
            <a:off x="6373368" y="1801368"/>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3" name="Text 11"/>
          <p:cNvSpPr txBox="1"/>
          <p:nvPr/>
        </p:nvSpPr>
        <p:spPr>
          <a:xfrm>
            <a:off x="6885432" y="1737360"/>
            <a:ext cx="4572000" cy="365760"/>
          </a:xfrm>
          <a:prstGeom prst="rect">
            <a:avLst/>
          </a:prstGeom>
          <a:noFill/>
          <a:ln/>
        </p:spPr>
        <p:txBody>
          <a:bodyPr wrap="square" lIns="0" tIns="0" rIns="0" bIns="0" rtlCol="0" anchor="ctr"/>
          <a:lstStyle/>
          <a:p>
            <a:pPr indent="0" marL="0">
              <a:lnSpc>
                <a:spcPct val="105000"/>
              </a:lnSpc>
              <a:buNone/>
            </a:pPr>
            <a:r>
              <a:rPr lang="en-US" sz="1300" b="1" dirty="0">
                <a:solidFill>
                  <a:srgbClr val="0B2545"/>
                </a:solidFill>
                <a:latin typeface="Arial" pitchFamily="34" charset="0"/>
                <a:ea typeface="Arial" pitchFamily="34" charset="-122"/>
                <a:cs typeface="Arial" pitchFamily="34" charset="-120"/>
              </a:rPr>
              <a:t>Calificadores LOC+6 / LOC+12 de CORPUS_A06</a:t>
            </a:r>
            <a:endParaRPr lang="en-US" sz="1300" dirty="0"/>
          </a:p>
        </p:txBody>
      </p:sp>
      <p:sp>
        <p:nvSpPr>
          <p:cNvPr id="14" name="Text 12"/>
          <p:cNvSpPr txBox="1"/>
          <p:nvPr/>
        </p:nvSpPr>
        <p:spPr>
          <a:xfrm>
            <a:off x="6885432" y="2130552"/>
            <a:ext cx="4572000" cy="795528"/>
          </a:xfrm>
          <a:prstGeom prst="rect">
            <a:avLst/>
          </a:prstGeom>
          <a:noFill/>
          <a:ln/>
        </p:spPr>
        <p:txBody>
          <a:bodyPr wrap="square" lIns="0" tIns="0" rIns="0" bIns="0" rtlCol="0" anchor="ctr"/>
          <a:lstStyle/>
          <a:p>
            <a:pPr indent="0" marL="0">
              <a:lnSpc>
                <a:spcPct val="115000"/>
              </a:lnSpc>
              <a:buNone/>
            </a:pPr>
            <a:r>
              <a:rPr lang="en-US" sz="1050" dirty="0">
                <a:solidFill>
                  <a:srgbClr val="5B6B76"/>
                </a:solidFill>
                <a:latin typeface="Arial" pitchFamily="34" charset="0"/>
                <a:ea typeface="Arial" pitchFamily="34" charset="-122"/>
                <a:cs typeface="Arial" pitchFamily="34" charset="-120"/>
              </a:rPr>
              <a:t>único archivo con versión SMDG15 del estándar; no se debe asumir que equivalen a LOC+9/LOC+11 solo por ocupar el mismo lugar.</a:t>
            </a:r>
            <a:endParaRPr lang="en-US" sz="1050" dirty="0"/>
          </a:p>
        </p:txBody>
      </p:sp>
      <p:sp>
        <p:nvSpPr>
          <p:cNvPr id="15" name="Shape 13"/>
          <p:cNvSpPr/>
          <p:nvPr/>
        </p:nvSpPr>
        <p:spPr>
          <a:xfrm>
            <a:off x="6172200" y="3145536"/>
            <a:ext cx="5486400" cy="1417320"/>
          </a:xfrm>
          <a:prstGeom prst="roundRect">
            <a:avLst>
              <a:gd name="adj" fmla="val 6452"/>
            </a:avLst>
          </a:prstGeom>
          <a:solidFill>
            <a:srgbClr val="FFFFFF"/>
          </a:solidFill>
          <a:ln w="15875">
            <a:solidFill>
              <a:srgbClr val="B85042"/>
            </a:solidFill>
            <a:prstDash val="solid"/>
          </a:ln>
        </p:spPr>
      </p:sp>
      <p:sp>
        <p:nvSpPr>
          <p:cNvPr id="16" name="Shape 14"/>
          <p:cNvSpPr/>
          <p:nvPr/>
        </p:nvSpPr>
        <p:spPr>
          <a:xfrm>
            <a:off x="6373368" y="3346704"/>
            <a:ext cx="365760" cy="365760"/>
          </a:xfrm>
          <a:prstGeom prst="ellipse">
            <a:avLst/>
          </a:prstGeom>
          <a:solidFill>
            <a:srgbClr val="B85042"/>
          </a:solidFill>
          <a:ln/>
        </p:spPr>
      </p:sp>
      <p:sp>
        <p:nvSpPr>
          <p:cNvPr id="17" name="Text 15"/>
          <p:cNvSpPr txBox="1"/>
          <p:nvPr/>
        </p:nvSpPr>
        <p:spPr>
          <a:xfrm>
            <a:off x="6373368" y="3346704"/>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8" name="Text 16"/>
          <p:cNvSpPr txBox="1"/>
          <p:nvPr/>
        </p:nvSpPr>
        <p:spPr>
          <a:xfrm>
            <a:off x="6885432" y="3282696"/>
            <a:ext cx="4572000" cy="365760"/>
          </a:xfrm>
          <a:prstGeom prst="rect">
            <a:avLst/>
          </a:prstGeom>
          <a:noFill/>
          <a:ln/>
        </p:spPr>
        <p:txBody>
          <a:bodyPr wrap="square" lIns="0" tIns="0" rIns="0" bIns="0" rtlCol="0" anchor="ctr"/>
          <a:lstStyle/>
          <a:p>
            <a:pPr indent="0" marL="0">
              <a:lnSpc>
                <a:spcPct val="105000"/>
              </a:lnSpc>
              <a:buNone/>
            </a:pPr>
            <a:r>
              <a:rPr lang="en-US" sz="1300" b="1" dirty="0">
                <a:solidFill>
                  <a:srgbClr val="0B2545"/>
                </a:solidFill>
                <a:latin typeface="Arial" pitchFamily="34" charset="0"/>
                <a:ea typeface="Arial" pitchFamily="34" charset="-122"/>
                <a:cs typeface="Arial" pitchFamily="34" charset="-120"/>
              </a:rPr>
              <a:t>Detención (ANR) en Android</a:t>
            </a:r>
            <a:endParaRPr lang="en-US" sz="1300" dirty="0"/>
          </a:p>
        </p:txBody>
      </p:sp>
      <p:sp>
        <p:nvSpPr>
          <p:cNvPr id="19" name="Text 17"/>
          <p:cNvSpPr txBox="1"/>
          <p:nvPr/>
        </p:nvSpPr>
        <p:spPr>
          <a:xfrm>
            <a:off x="6885432" y="3675888"/>
            <a:ext cx="4572000" cy="795528"/>
          </a:xfrm>
          <a:prstGeom prst="rect">
            <a:avLst/>
          </a:prstGeom>
          <a:noFill/>
          <a:ln/>
        </p:spPr>
        <p:txBody>
          <a:bodyPr wrap="square" lIns="0" tIns="0" rIns="0" bIns="0" rtlCol="0" anchor="ctr"/>
          <a:lstStyle/>
          <a:p>
            <a:pPr indent="0" marL="0">
              <a:lnSpc>
                <a:spcPct val="115000"/>
              </a:lnSpc>
              <a:buNone/>
            </a:pPr>
            <a:r>
              <a:rPr lang="en-US" sz="1050" dirty="0">
                <a:solidFill>
                  <a:srgbClr val="5B6B76"/>
                </a:solidFill>
                <a:latin typeface="Arial" pitchFamily="34" charset="0"/>
                <a:ea typeface="Arial" pitchFamily="34" charset="-122"/>
                <a:cs typeface="Arial" pitchFamily="34" charset="-120"/>
              </a:rPr>
              <a:t>no reprodujo en emulador API 36 tras C‑4, pero el 4 de septiembre se confirmó que el problema sigue vivo en dispositivo — sin reconciliar.</a:t>
            </a:r>
            <a:endParaRPr lang="en-US" sz="1050" dirty="0"/>
          </a:p>
        </p:txBody>
      </p:sp>
      <p:sp>
        <p:nvSpPr>
          <p:cNvPr id="20" name="Shape 18"/>
          <p:cNvSpPr/>
          <p:nvPr/>
        </p:nvSpPr>
        <p:spPr>
          <a:xfrm>
            <a:off x="6172200" y="4690872"/>
            <a:ext cx="5486400" cy="1417320"/>
          </a:xfrm>
          <a:prstGeom prst="roundRect">
            <a:avLst>
              <a:gd name="adj" fmla="val 6452"/>
            </a:avLst>
          </a:prstGeom>
          <a:solidFill>
            <a:srgbClr val="FFFFFF"/>
          </a:solidFill>
          <a:ln w="15875">
            <a:solidFill>
              <a:srgbClr val="B85042"/>
            </a:solidFill>
            <a:prstDash val="solid"/>
          </a:ln>
        </p:spPr>
      </p:sp>
      <p:sp>
        <p:nvSpPr>
          <p:cNvPr id="21" name="Shape 19"/>
          <p:cNvSpPr/>
          <p:nvPr/>
        </p:nvSpPr>
        <p:spPr>
          <a:xfrm>
            <a:off x="6373368" y="4892040"/>
            <a:ext cx="365760" cy="365760"/>
          </a:xfrm>
          <a:prstGeom prst="ellipse">
            <a:avLst/>
          </a:prstGeom>
          <a:solidFill>
            <a:srgbClr val="B85042"/>
          </a:solidFill>
          <a:ln/>
        </p:spPr>
      </p:sp>
      <p:sp>
        <p:nvSpPr>
          <p:cNvPr id="22" name="Text 20"/>
          <p:cNvSpPr txBox="1"/>
          <p:nvPr/>
        </p:nvSpPr>
        <p:spPr>
          <a:xfrm>
            <a:off x="6373368" y="4892040"/>
            <a:ext cx="365760" cy="36576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3" name="Text 21"/>
          <p:cNvSpPr txBox="1"/>
          <p:nvPr/>
        </p:nvSpPr>
        <p:spPr>
          <a:xfrm>
            <a:off x="6885432" y="4828032"/>
            <a:ext cx="4572000" cy="365760"/>
          </a:xfrm>
          <a:prstGeom prst="rect">
            <a:avLst/>
          </a:prstGeom>
          <a:noFill/>
          <a:ln/>
        </p:spPr>
        <p:txBody>
          <a:bodyPr wrap="square" lIns="0" tIns="0" rIns="0" bIns="0" rtlCol="0" anchor="ctr"/>
          <a:lstStyle/>
          <a:p>
            <a:pPr indent="0" marL="0">
              <a:lnSpc>
                <a:spcPct val="105000"/>
              </a:lnSpc>
              <a:buNone/>
            </a:pPr>
            <a:r>
              <a:rPr lang="en-US" sz="1300" b="1" dirty="0">
                <a:solidFill>
                  <a:srgbClr val="0B2545"/>
                </a:solidFill>
                <a:latin typeface="Arial" pitchFamily="34" charset="0"/>
                <a:ea typeface="Arial" pitchFamily="34" charset="-122"/>
                <a:cs typeface="Arial" pitchFamily="34" charset="-120"/>
              </a:rPr>
              <a:t>Aclaración visual de las 34 bahías</a:t>
            </a:r>
            <a:endParaRPr lang="en-US" sz="1300" dirty="0"/>
          </a:p>
        </p:txBody>
      </p:sp>
      <p:sp>
        <p:nvSpPr>
          <p:cNvPr id="24" name="Text 22"/>
          <p:cNvSpPr txBox="1"/>
          <p:nvPr/>
        </p:nvSpPr>
        <p:spPr>
          <a:xfrm>
            <a:off x="6885432" y="5221224"/>
            <a:ext cx="4572000" cy="795528"/>
          </a:xfrm>
          <a:prstGeom prst="rect">
            <a:avLst/>
          </a:prstGeom>
          <a:noFill/>
          <a:ln/>
        </p:spPr>
        <p:txBody>
          <a:bodyPr wrap="square" lIns="0" tIns="0" rIns="0" bIns="0" rtlCol="0" anchor="ctr"/>
          <a:lstStyle/>
          <a:p>
            <a:pPr indent="0" marL="0">
              <a:lnSpc>
                <a:spcPct val="115000"/>
              </a:lnSpc>
              <a:buNone/>
            </a:pPr>
            <a:r>
              <a:rPr lang="en-US" sz="1050" dirty="0">
                <a:solidFill>
                  <a:srgbClr val="5B6B76"/>
                </a:solidFill>
                <a:latin typeface="Arial" pitchFamily="34" charset="0"/>
                <a:ea typeface="Arial" pitchFamily="34" charset="-122"/>
                <a:cs typeface="Arial" pitchFamily="34" charset="-120"/>
              </a:rPr>
              <a:t>falta una línea de interfaz que distinga carga propia de bahías invisibles.</a:t>
            </a:r>
            <a:endParaRPr lang="en-US" sz="1050" dirty="0"/>
          </a:p>
        </p:txBody>
      </p:sp>
      <p:sp>
        <p:nvSpPr>
          <p:cNvPr id="25" name="Text 23"/>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B6B76"/>
                </a:solidFill>
                <a:latin typeface="Arial" pitchFamily="34" charset="0"/>
                <a:ea typeface="Arial" pitchFamily="34" charset="-122"/>
                <a:cs typeface="Arial"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indent="0" marL="0">
              <a:buNone/>
            </a:pPr>
            <a:r>
              <a:rPr lang="en-US" sz="1200" b="1" spc="200" kern="0" dirty="0">
                <a:solidFill>
                  <a:srgbClr val="065A82"/>
                </a:solidFill>
                <a:latin typeface="Arial" pitchFamily="34" charset="0"/>
                <a:ea typeface="Arial" pitchFamily="34" charset="-122"/>
                <a:cs typeface="Arial" pitchFamily="34" charset="-120"/>
              </a:rPr>
              <a:t>VI. MÉTODO DE VERIFICACIÓN</a:t>
            </a:r>
            <a:endParaRPr lang="en-US" sz="1200" dirty="0"/>
          </a:p>
        </p:txBody>
      </p:sp>
      <p:sp>
        <p:nvSpPr>
          <p:cNvPr id="3" name="Text 1"/>
          <p:cNvSpPr txBox="1"/>
          <p:nvPr/>
        </p:nvSpPr>
        <p:spPr>
          <a:xfrm>
            <a:off x="548640" y="658368"/>
            <a:ext cx="10789920" cy="640080"/>
          </a:xfrm>
          <a:prstGeom prst="rect">
            <a:avLst/>
          </a:prstGeom>
          <a:noFill/>
          <a:ln/>
        </p:spPr>
        <p:txBody>
          <a:bodyPr wrap="square" lIns="0" tIns="0" rIns="0" bIns="0" rtlCol="0" anchor="ctr"/>
          <a:lstStyle/>
          <a:p>
            <a:pPr indent="0" marL="0">
              <a:buNone/>
            </a:pPr>
            <a:r>
              <a:rPr lang="en-US" sz="2800" b="1" dirty="0">
                <a:solidFill>
                  <a:srgbClr val="0B2545"/>
                </a:solidFill>
                <a:latin typeface="Arial" pitchFamily="34" charset="0"/>
                <a:ea typeface="Arial" pitchFamily="34" charset="-122"/>
                <a:cs typeface="Arial" pitchFamily="34" charset="-120"/>
              </a:rPr>
              <a:t>El proceso también se corrigió a sí mismo</a:t>
            </a:r>
            <a:endParaRPr lang="en-US" sz="2800" dirty="0"/>
          </a:p>
        </p:txBody>
      </p:sp>
      <p:sp>
        <p:nvSpPr>
          <p:cNvPr id="4" name="Shape 2"/>
          <p:cNvSpPr/>
          <p:nvPr/>
        </p:nvSpPr>
        <p:spPr>
          <a:xfrm>
            <a:off x="548640" y="1645920"/>
            <a:ext cx="3383280" cy="1417320"/>
          </a:xfrm>
          <a:prstGeom prst="roundRect">
            <a:avLst>
              <a:gd name="adj" fmla="val 6452"/>
            </a:avLst>
          </a:prstGeom>
          <a:solidFill>
            <a:srgbClr val="0B2545"/>
          </a:solidFill>
          <a:ln/>
        </p:spPr>
      </p:sp>
      <p:sp>
        <p:nvSpPr>
          <p:cNvPr id="5" name="Text 3"/>
          <p:cNvSpPr txBox="1"/>
          <p:nvPr/>
        </p:nvSpPr>
        <p:spPr>
          <a:xfrm>
            <a:off x="777240" y="1755648"/>
            <a:ext cx="1828800" cy="777240"/>
          </a:xfrm>
          <a:prstGeom prst="rect">
            <a:avLst/>
          </a:prstGeom>
          <a:noFill/>
          <a:ln/>
        </p:spPr>
        <p:txBody>
          <a:bodyPr wrap="square" lIns="0" tIns="0" rIns="0" bIns="0" rtlCol="0" anchor="ctr"/>
          <a:lstStyle/>
          <a:p>
            <a:pPr indent="0" marL="0">
              <a:buNone/>
            </a:pPr>
            <a:r>
              <a:rPr lang="en-US" sz="4600" b="1" dirty="0">
                <a:solidFill>
                  <a:srgbClr val="6FCF97"/>
                </a:solidFill>
                <a:latin typeface="Arial" pitchFamily="34" charset="0"/>
                <a:ea typeface="Arial" pitchFamily="34" charset="-122"/>
                <a:cs typeface="Arial" pitchFamily="34" charset="-120"/>
              </a:rPr>
              <a:t>6</a:t>
            </a:r>
            <a:endParaRPr lang="en-US" sz="4600" dirty="0"/>
          </a:p>
        </p:txBody>
      </p:sp>
      <p:sp>
        <p:nvSpPr>
          <p:cNvPr id="6" name="Text 4"/>
          <p:cNvSpPr txBox="1"/>
          <p:nvPr/>
        </p:nvSpPr>
        <p:spPr>
          <a:xfrm>
            <a:off x="777240" y="2514600"/>
            <a:ext cx="2926080" cy="502920"/>
          </a:xfrm>
          <a:prstGeom prst="rect">
            <a:avLst/>
          </a:prstGeom>
          <a:noFill/>
          <a:ln/>
        </p:spPr>
        <p:txBody>
          <a:bodyPr wrap="square" lIns="0" tIns="0" rIns="0" bIns="0" rtlCol="0" anchor="ctr"/>
          <a:lstStyle/>
          <a:p>
            <a:pPr indent="0" marL="0">
              <a:lnSpc>
                <a:spcPct val="110000"/>
              </a:lnSpc>
              <a:buNone/>
            </a:pPr>
            <a:r>
              <a:rPr lang="en-US" sz="1200" dirty="0">
                <a:solidFill>
                  <a:srgbClr val="FFFFFF"/>
                </a:solidFill>
                <a:latin typeface="Arial" pitchFamily="34" charset="0"/>
                <a:ea typeface="Arial" pitchFamily="34" charset="-122"/>
                <a:cs typeface="Arial" pitchFamily="34" charset="-120"/>
              </a:rPr>
              <a:t>afirmaciones corregidas</a:t>
            </a:r>
            <a:endParaRPr lang="en-US" sz="1200" dirty="0"/>
          </a:p>
          <a:p>
            <a:pPr indent="0" marL="0">
              <a:lnSpc>
                <a:spcPct val="110000"/>
              </a:lnSpc>
              <a:buNone/>
            </a:pPr>
            <a:r>
              <a:rPr lang="en-US" sz="1200" dirty="0">
                <a:solidFill>
                  <a:srgbClr val="FFFFFF"/>
                </a:solidFill>
                <a:latin typeface="Arial" pitchFamily="34" charset="0"/>
                <a:ea typeface="Arial" pitchFamily="34" charset="-122"/>
                <a:cs typeface="Arial" pitchFamily="34" charset="-120"/>
              </a:rPr>
              <a:t>contra el corpus</a:t>
            </a:r>
            <a:endParaRPr lang="en-US" sz="1200" dirty="0"/>
          </a:p>
        </p:txBody>
      </p:sp>
      <p:sp>
        <p:nvSpPr>
          <p:cNvPr id="7" name="Shape 5"/>
          <p:cNvSpPr/>
          <p:nvPr/>
        </p:nvSpPr>
        <p:spPr>
          <a:xfrm>
            <a:off x="4114800" y="1645920"/>
            <a:ext cx="3383280" cy="1417320"/>
          </a:xfrm>
          <a:prstGeom prst="roundRect">
            <a:avLst>
              <a:gd name="adj" fmla="val 6452"/>
            </a:avLst>
          </a:prstGeom>
          <a:solidFill>
            <a:srgbClr val="065A82"/>
          </a:solidFill>
          <a:ln/>
        </p:spPr>
      </p:sp>
      <p:sp>
        <p:nvSpPr>
          <p:cNvPr id="8" name="Text 6"/>
          <p:cNvSpPr txBox="1"/>
          <p:nvPr/>
        </p:nvSpPr>
        <p:spPr>
          <a:xfrm>
            <a:off x="4343400" y="1755648"/>
            <a:ext cx="1828800" cy="777240"/>
          </a:xfrm>
          <a:prstGeom prst="rect">
            <a:avLst/>
          </a:prstGeom>
          <a:noFill/>
          <a:ln/>
        </p:spPr>
        <p:txBody>
          <a:bodyPr wrap="square" lIns="0" tIns="0" rIns="0" bIns="0" rtlCol="0" anchor="ctr"/>
          <a:lstStyle/>
          <a:p>
            <a:pPr indent="0" marL="0">
              <a:buNone/>
            </a:pPr>
            <a:r>
              <a:rPr lang="en-US" sz="4600" b="1" dirty="0">
                <a:solidFill>
                  <a:srgbClr val="FFD37A"/>
                </a:solidFill>
                <a:latin typeface="Arial" pitchFamily="34" charset="0"/>
                <a:ea typeface="Arial" pitchFamily="34" charset="-122"/>
                <a:cs typeface="Arial" pitchFamily="34" charset="-120"/>
              </a:rPr>
              <a:t>3</a:t>
            </a:r>
            <a:endParaRPr lang="en-US" sz="4600" dirty="0"/>
          </a:p>
        </p:txBody>
      </p:sp>
      <p:sp>
        <p:nvSpPr>
          <p:cNvPr id="9" name="Text 7"/>
          <p:cNvSpPr txBox="1"/>
          <p:nvPr/>
        </p:nvSpPr>
        <p:spPr>
          <a:xfrm>
            <a:off x="4343400" y="2514600"/>
            <a:ext cx="2926080" cy="502920"/>
          </a:xfrm>
          <a:prstGeom prst="rect">
            <a:avLst/>
          </a:prstGeom>
          <a:noFill/>
          <a:ln/>
        </p:spPr>
        <p:txBody>
          <a:bodyPr wrap="square" lIns="0" tIns="0" rIns="0" bIns="0" rtlCol="0" anchor="ctr"/>
          <a:lstStyle/>
          <a:p>
            <a:pPr indent="0" marL="0">
              <a:lnSpc>
                <a:spcPct val="110000"/>
              </a:lnSpc>
              <a:buNone/>
            </a:pPr>
            <a:r>
              <a:rPr lang="en-US" sz="1200" dirty="0">
                <a:solidFill>
                  <a:srgbClr val="FFFFFF"/>
                </a:solidFill>
                <a:latin typeface="Arial" pitchFamily="34" charset="0"/>
                <a:ea typeface="Arial" pitchFamily="34" charset="-122"/>
                <a:cs typeface="Arial" pitchFamily="34" charset="-120"/>
              </a:rPr>
              <a:t>de ellas eran del propio</a:t>
            </a:r>
            <a:endParaRPr lang="en-US" sz="1200" dirty="0"/>
          </a:p>
          <a:p>
            <a:pPr indent="0" marL="0">
              <a:lnSpc>
                <a:spcPct val="110000"/>
              </a:lnSpc>
              <a:buNone/>
            </a:pPr>
            <a:r>
              <a:rPr lang="en-US" sz="1200" dirty="0">
                <a:solidFill>
                  <a:srgbClr val="FFFFFF"/>
                </a:solidFill>
                <a:latin typeface="Arial" pitchFamily="34" charset="0"/>
                <a:ea typeface="Arial" pitchFamily="34" charset="-122"/>
                <a:cs typeface="Arial" pitchFamily="34" charset="-120"/>
              </a:rPr>
              <a:t>verificador, no de los programadores</a:t>
            </a:r>
            <a:endParaRPr lang="en-US" sz="1200" dirty="0"/>
          </a:p>
        </p:txBody>
      </p:sp>
      <p:sp>
        <p:nvSpPr>
          <p:cNvPr id="10" name="Shape 8"/>
          <p:cNvSpPr/>
          <p:nvPr/>
        </p:nvSpPr>
        <p:spPr>
          <a:xfrm>
            <a:off x="7680960" y="1645920"/>
            <a:ext cx="3959352" cy="1417320"/>
          </a:xfrm>
          <a:prstGeom prst="roundRect">
            <a:avLst>
              <a:gd name="adj" fmla="val 6452"/>
            </a:avLst>
          </a:prstGeom>
          <a:solidFill>
            <a:srgbClr val="1C7293"/>
          </a:solidFill>
          <a:ln/>
        </p:spPr>
      </p:sp>
      <p:sp>
        <p:nvSpPr>
          <p:cNvPr id="11" name="Text 9"/>
          <p:cNvSpPr txBox="1"/>
          <p:nvPr/>
        </p:nvSpPr>
        <p:spPr>
          <a:xfrm>
            <a:off x="7909560" y="1755648"/>
            <a:ext cx="1828800" cy="777240"/>
          </a:xfrm>
          <a:prstGeom prst="rect">
            <a:avLst/>
          </a:prstGeom>
          <a:noFill/>
          <a:ln/>
        </p:spPr>
        <p:txBody>
          <a:bodyPr wrap="square" lIns="0" tIns="0" rIns="0" bIns="0" rtlCol="0" anchor="ctr"/>
          <a:lstStyle/>
          <a:p>
            <a:pPr indent="0" marL="0">
              <a:buNone/>
            </a:pPr>
            <a:r>
              <a:rPr lang="en-US" sz="4600" b="1" dirty="0">
                <a:solidFill>
                  <a:srgbClr val="FFFFFF"/>
                </a:solidFill>
                <a:latin typeface="Arial" pitchFamily="34" charset="0"/>
                <a:ea typeface="Arial" pitchFamily="34" charset="-122"/>
                <a:cs typeface="Arial" pitchFamily="34" charset="-120"/>
              </a:rPr>
              <a:t>2</a:t>
            </a:r>
            <a:endParaRPr lang="en-US" sz="4600" dirty="0"/>
          </a:p>
        </p:txBody>
      </p:sp>
      <p:sp>
        <p:nvSpPr>
          <p:cNvPr id="12" name="Text 10"/>
          <p:cNvSpPr txBox="1"/>
          <p:nvPr/>
        </p:nvSpPr>
        <p:spPr>
          <a:xfrm>
            <a:off x="7909560" y="2514600"/>
            <a:ext cx="3566160" cy="502920"/>
          </a:xfrm>
          <a:prstGeom prst="rect">
            <a:avLst/>
          </a:prstGeom>
          <a:noFill/>
          <a:ln/>
        </p:spPr>
        <p:txBody>
          <a:bodyPr wrap="square" lIns="0" tIns="0" rIns="0" bIns="0" rtlCol="0" anchor="ctr"/>
          <a:lstStyle/>
          <a:p>
            <a:pPr indent="0" marL="0">
              <a:lnSpc>
                <a:spcPct val="110000"/>
              </a:lnSpc>
              <a:buNone/>
            </a:pPr>
            <a:r>
              <a:rPr lang="en-US" sz="1200" dirty="0">
                <a:solidFill>
                  <a:srgbClr val="FFFFFF"/>
                </a:solidFill>
                <a:latin typeface="Arial" pitchFamily="34" charset="0"/>
                <a:ea typeface="Arial" pitchFamily="34" charset="-122"/>
                <a:cs typeface="Arial" pitchFamily="34" charset="-120"/>
              </a:rPr>
              <a:t>hallazgos del sprint que compartían</a:t>
            </a:r>
            <a:endParaRPr lang="en-US" sz="1200" dirty="0"/>
          </a:p>
          <a:p>
            <a:pPr indent="0" marL="0">
              <a:lnSpc>
                <a:spcPct val="110000"/>
              </a:lnSpc>
              <a:buNone/>
            </a:pPr>
            <a:r>
              <a:rPr lang="en-US" sz="1200" dirty="0">
                <a:solidFill>
                  <a:srgbClr val="FFFFFF"/>
                </a:solidFill>
                <a:latin typeface="Arial" pitchFamily="34" charset="0"/>
                <a:ea typeface="Arial" pitchFamily="34" charset="-122"/>
                <a:cs typeface="Arial" pitchFamily="34" charset="-120"/>
              </a:rPr>
              <a:t>la misma causa raíz</a:t>
            </a:r>
            <a:endParaRPr lang="en-US" sz="1200" dirty="0"/>
          </a:p>
        </p:txBody>
      </p:sp>
      <p:sp>
        <p:nvSpPr>
          <p:cNvPr id="13" name="Text 11"/>
          <p:cNvSpPr txBox="1"/>
          <p:nvPr/>
        </p:nvSpPr>
        <p:spPr>
          <a:xfrm>
            <a:off x="548640" y="3429000"/>
            <a:ext cx="11064240" cy="777240"/>
          </a:xfrm>
          <a:prstGeom prst="rect">
            <a:avLst/>
          </a:prstGeom>
          <a:noFill/>
          <a:ln/>
        </p:spPr>
        <p:txBody>
          <a:bodyPr wrap="square" lIns="0" tIns="0" rIns="0" bIns="0" rtlCol="0" anchor="ctr"/>
          <a:lstStyle/>
          <a:p>
            <a:pPr indent="0" marL="0">
              <a:lnSpc>
                <a:spcPct val="125000"/>
              </a:lnSpc>
              <a:buNone/>
            </a:pPr>
            <a:r>
              <a:rPr lang="en-US" sz="1350" dirty="0">
                <a:solidFill>
                  <a:srgbClr val="1F2A33"/>
                </a:solidFill>
                <a:latin typeface="Arial" pitchFamily="34" charset="0"/>
                <a:ea typeface="Arial" pitchFamily="34" charset="-122"/>
                <a:cs typeface="Arial" pitchFamily="34" charset="-120"/>
              </a:rPr>
              <a:t>El patrón común: inferir el significado de un dato del mundo real en vez de observarlo o preguntarlo — la misma clase de fallo que documentó la auditoría de seguridad del 25 de agosto sobre las reglas de Firestore.</a:t>
            </a:r>
            <a:endParaRPr lang="en-US" sz="1350" dirty="0"/>
          </a:p>
        </p:txBody>
      </p:sp>
      <p:sp>
        <p:nvSpPr>
          <p:cNvPr id="14" name="Shape 12"/>
          <p:cNvSpPr/>
          <p:nvPr/>
        </p:nvSpPr>
        <p:spPr>
          <a:xfrm>
            <a:off x="548640" y="4434840"/>
            <a:ext cx="11064240" cy="1600200"/>
          </a:xfrm>
          <a:prstGeom prst="roundRect">
            <a:avLst>
              <a:gd name="adj" fmla="val 5714"/>
            </a:avLst>
          </a:prstGeom>
          <a:solidFill>
            <a:srgbClr val="EAF3F8"/>
          </a:solidFill>
          <a:ln w="19050">
            <a:solidFill>
              <a:srgbClr val="065A82"/>
            </a:solidFill>
            <a:prstDash val="solid"/>
          </a:ln>
        </p:spPr>
      </p:sp>
      <p:sp>
        <p:nvSpPr>
          <p:cNvPr id="15" name="Text 13"/>
          <p:cNvSpPr txBox="1"/>
          <p:nvPr/>
        </p:nvSpPr>
        <p:spPr>
          <a:xfrm>
            <a:off x="914400" y="4709160"/>
            <a:ext cx="10424160" cy="1051560"/>
          </a:xfrm>
          <a:prstGeom prst="rect">
            <a:avLst/>
          </a:prstGeom>
          <a:noFill/>
          <a:ln/>
        </p:spPr>
        <p:txBody>
          <a:bodyPr wrap="square" lIns="0" tIns="0" rIns="0" bIns="0" rtlCol="0" anchor="ctr"/>
          <a:lstStyle/>
          <a:p>
            <a:pPr algn="ctr" indent="0" marL="0">
              <a:lnSpc>
                <a:spcPct val="120000"/>
              </a:lnSpc>
              <a:buNone/>
            </a:pPr>
            <a:r>
              <a:rPr lang="en-US" sz="2200" b="1" i="1" dirty="0">
                <a:solidFill>
                  <a:srgbClr val="0B2545"/>
                </a:solidFill>
                <a:latin typeface="Arial" pitchFamily="34" charset="0"/>
                <a:ea typeface="Arial" pitchFamily="34" charset="-122"/>
                <a:cs typeface="Arial" pitchFamily="34" charset="-120"/>
              </a:rPr>
              <a:t>«Cuando el dato viene del mundo y no del código, se observa o se pregunta; no se deduce.»</a:t>
            </a:r>
            <a:endParaRPr lang="en-US" sz="2200" dirty="0"/>
          </a:p>
        </p:txBody>
      </p:sp>
      <p:sp>
        <p:nvSpPr>
          <p:cNvPr id="16" name="Text 14"/>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B6B76"/>
                </a:solidFill>
                <a:latin typeface="Arial" pitchFamily="34" charset="0"/>
                <a:ea typeface="Arial" pitchFamily="34" charset="-122"/>
                <a:cs typeface="Arial"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2286000" y="4114800"/>
            <a:ext cx="5486400" cy="5486400"/>
          </a:xfrm>
          <a:prstGeom prst="ellipse">
            <a:avLst/>
          </a:prstGeom>
          <a:solidFill>
            <a:srgbClr val="065A82">
              <a:alpha val="45000"/>
            </a:srgbClr>
          </a:solidFill>
          <a:ln/>
        </p:spPr>
      </p:sp>
      <p:sp>
        <p:nvSpPr>
          <p:cNvPr id="3" name="Text 1"/>
          <p:cNvSpPr txBox="1"/>
          <p:nvPr/>
        </p:nvSpPr>
        <p:spPr>
          <a:xfrm>
            <a:off x="640080" y="548640"/>
            <a:ext cx="7315200" cy="320040"/>
          </a:xfrm>
          <a:prstGeom prst="rect">
            <a:avLst/>
          </a:prstGeom>
          <a:noFill/>
          <a:ln/>
        </p:spPr>
        <p:txBody>
          <a:bodyPr wrap="square" lIns="0" tIns="0" rIns="0" bIns="0" rtlCol="0" anchor="ctr"/>
          <a:lstStyle/>
          <a:p>
            <a:pPr indent="0" marL="0">
              <a:buNone/>
            </a:pPr>
            <a:r>
              <a:rPr lang="en-US" sz="1200" b="1" spc="200" kern="0" dirty="0">
                <a:solidFill>
                  <a:srgbClr val="9FC1D9"/>
                </a:solidFill>
                <a:latin typeface="Arial" pitchFamily="34" charset="0"/>
                <a:ea typeface="Arial" pitchFamily="34" charset="-122"/>
                <a:cs typeface="Arial" pitchFamily="34" charset="-120"/>
              </a:rPr>
              <a:t>VII. CONCLUSIONES</a:t>
            </a:r>
            <a:endParaRPr lang="en-US" sz="1200" dirty="0"/>
          </a:p>
        </p:txBody>
      </p:sp>
      <p:sp>
        <p:nvSpPr>
          <p:cNvPr id="4" name="Text 2"/>
          <p:cNvSpPr txBox="1"/>
          <p:nvPr/>
        </p:nvSpPr>
        <p:spPr>
          <a:xfrm>
            <a:off x="640080" y="914400"/>
            <a:ext cx="10515600" cy="68580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Sprint 1 cerrado y verificado dos veces</a:t>
            </a:r>
            <a:endParaRPr lang="en-US" sz="3000" dirty="0"/>
          </a:p>
        </p:txBody>
      </p:sp>
      <p:sp>
        <p:nvSpPr>
          <p:cNvPr id="5" name="Shape 3"/>
          <p:cNvSpPr/>
          <p:nvPr/>
        </p:nvSpPr>
        <p:spPr>
          <a:xfrm>
            <a:off x="640080" y="1965960"/>
            <a:ext cx="2606040" cy="1371600"/>
          </a:xfrm>
          <a:prstGeom prst="roundRect">
            <a:avLst>
              <a:gd name="adj" fmla="val 6667"/>
            </a:avLst>
          </a:prstGeom>
          <a:solidFill>
            <a:srgbClr val="13385C"/>
          </a:solidFill>
          <a:ln/>
        </p:spPr>
      </p:sp>
      <p:sp>
        <p:nvSpPr>
          <p:cNvPr id="6" name="Text 4"/>
          <p:cNvSpPr txBox="1"/>
          <p:nvPr/>
        </p:nvSpPr>
        <p:spPr>
          <a:xfrm>
            <a:off x="777240" y="2075688"/>
            <a:ext cx="2331720" cy="594360"/>
          </a:xfrm>
          <a:prstGeom prst="rect">
            <a:avLst/>
          </a:prstGeom>
          <a:noFill/>
          <a:ln/>
        </p:spPr>
        <p:txBody>
          <a:bodyPr wrap="square" lIns="0" tIns="0" rIns="0" bIns="0" rtlCol="0" anchor="ctr"/>
          <a:lstStyle/>
          <a:p>
            <a:pPr indent="0" marL="0">
              <a:buNone/>
            </a:pPr>
            <a:r>
              <a:rPr lang="en-US" sz="3000" b="1" dirty="0">
                <a:solidFill>
                  <a:srgbClr val="6FCF97"/>
                </a:solidFill>
                <a:latin typeface="Arial" pitchFamily="34" charset="0"/>
                <a:ea typeface="Arial" pitchFamily="34" charset="-122"/>
                <a:cs typeface="Arial" pitchFamily="34" charset="-120"/>
              </a:rPr>
              <a:t>9</a:t>
            </a:r>
            <a:endParaRPr lang="en-US" sz="3000" dirty="0"/>
          </a:p>
        </p:txBody>
      </p:sp>
      <p:sp>
        <p:nvSpPr>
          <p:cNvPr id="7" name="Text 5"/>
          <p:cNvSpPr txBox="1"/>
          <p:nvPr/>
        </p:nvSpPr>
        <p:spPr>
          <a:xfrm>
            <a:off x="777240" y="2743200"/>
            <a:ext cx="2331720" cy="502920"/>
          </a:xfrm>
          <a:prstGeom prst="rect">
            <a:avLst/>
          </a:prstGeom>
          <a:noFill/>
          <a:ln/>
        </p:spPr>
        <p:txBody>
          <a:bodyPr wrap="square" lIns="0" tIns="0" rIns="0" bIns="0" rtlCol="0" anchor="ctr"/>
          <a:lstStyle/>
          <a:p>
            <a:pPr indent="0" marL="0">
              <a:lnSpc>
                <a:spcPct val="110000"/>
              </a:lnSpc>
              <a:buNone/>
            </a:pPr>
            <a:r>
              <a:rPr lang="en-US" sz="1150" dirty="0">
                <a:solidFill>
                  <a:srgbClr val="CADCFC"/>
                </a:solidFill>
                <a:latin typeface="Arial" pitchFamily="34" charset="0"/>
                <a:ea typeface="Arial" pitchFamily="34" charset="-122"/>
                <a:cs typeface="Arial" pitchFamily="34" charset="-120"/>
              </a:rPr>
              <a:t>correcciones del sprint</a:t>
            </a:r>
            <a:endParaRPr lang="en-US" sz="1150" dirty="0"/>
          </a:p>
        </p:txBody>
      </p:sp>
      <p:sp>
        <p:nvSpPr>
          <p:cNvPr id="8" name="Shape 6"/>
          <p:cNvSpPr/>
          <p:nvPr/>
        </p:nvSpPr>
        <p:spPr>
          <a:xfrm>
            <a:off x="3429000" y="1965960"/>
            <a:ext cx="2606040" cy="1371600"/>
          </a:xfrm>
          <a:prstGeom prst="roundRect">
            <a:avLst>
              <a:gd name="adj" fmla="val 6667"/>
            </a:avLst>
          </a:prstGeom>
          <a:solidFill>
            <a:srgbClr val="13385C"/>
          </a:solidFill>
          <a:ln/>
        </p:spPr>
      </p:sp>
      <p:sp>
        <p:nvSpPr>
          <p:cNvPr id="9" name="Text 7"/>
          <p:cNvSpPr txBox="1"/>
          <p:nvPr/>
        </p:nvSpPr>
        <p:spPr>
          <a:xfrm>
            <a:off x="3566160" y="2075688"/>
            <a:ext cx="2331720" cy="594360"/>
          </a:xfrm>
          <a:prstGeom prst="rect">
            <a:avLst/>
          </a:prstGeom>
          <a:noFill/>
          <a:ln/>
        </p:spPr>
        <p:txBody>
          <a:bodyPr wrap="square" lIns="0" tIns="0" rIns="0" bIns="0" rtlCol="0" anchor="ctr"/>
          <a:lstStyle/>
          <a:p>
            <a:pPr indent="0" marL="0">
              <a:buNone/>
            </a:pPr>
            <a:r>
              <a:rPr lang="en-US" sz="3000" b="1" dirty="0">
                <a:solidFill>
                  <a:srgbClr val="6FCF97"/>
                </a:solidFill>
                <a:latin typeface="Arial" pitchFamily="34" charset="0"/>
                <a:ea typeface="Arial" pitchFamily="34" charset="-122"/>
                <a:cs typeface="Arial" pitchFamily="34" charset="-120"/>
              </a:rPr>
              <a:t>5</a:t>
            </a:r>
            <a:endParaRPr lang="en-US" sz="3000" dirty="0"/>
          </a:p>
        </p:txBody>
      </p:sp>
      <p:sp>
        <p:nvSpPr>
          <p:cNvPr id="10" name="Text 8"/>
          <p:cNvSpPr txBox="1"/>
          <p:nvPr/>
        </p:nvSpPr>
        <p:spPr>
          <a:xfrm>
            <a:off x="3566160" y="2743200"/>
            <a:ext cx="2331720" cy="502920"/>
          </a:xfrm>
          <a:prstGeom prst="rect">
            <a:avLst/>
          </a:prstGeom>
          <a:noFill/>
          <a:ln/>
        </p:spPr>
        <p:txBody>
          <a:bodyPr wrap="square" lIns="0" tIns="0" rIns="0" bIns="0" rtlCol="0" anchor="ctr"/>
          <a:lstStyle/>
          <a:p>
            <a:pPr indent="0" marL="0">
              <a:lnSpc>
                <a:spcPct val="110000"/>
              </a:lnSpc>
              <a:buNone/>
            </a:pPr>
            <a:r>
              <a:rPr lang="en-US" sz="1150" dirty="0">
                <a:solidFill>
                  <a:srgbClr val="CADCFC"/>
                </a:solidFill>
                <a:latin typeface="Arial" pitchFamily="34" charset="0"/>
                <a:ea typeface="Arial" pitchFamily="34" charset="-122"/>
                <a:cs typeface="Arial" pitchFamily="34" charset="-120"/>
              </a:rPr>
              <a:t>hallazgos posteriores</a:t>
            </a:r>
            <a:endParaRPr lang="en-US" sz="1150" dirty="0"/>
          </a:p>
        </p:txBody>
      </p:sp>
      <p:sp>
        <p:nvSpPr>
          <p:cNvPr id="11" name="Shape 9"/>
          <p:cNvSpPr/>
          <p:nvPr/>
        </p:nvSpPr>
        <p:spPr>
          <a:xfrm>
            <a:off x="6217920" y="1965960"/>
            <a:ext cx="2606040" cy="1371600"/>
          </a:xfrm>
          <a:prstGeom prst="roundRect">
            <a:avLst>
              <a:gd name="adj" fmla="val 6667"/>
            </a:avLst>
          </a:prstGeom>
          <a:solidFill>
            <a:srgbClr val="13385C"/>
          </a:solidFill>
          <a:ln/>
        </p:spPr>
      </p:sp>
      <p:sp>
        <p:nvSpPr>
          <p:cNvPr id="12" name="Text 10"/>
          <p:cNvSpPr txBox="1"/>
          <p:nvPr/>
        </p:nvSpPr>
        <p:spPr>
          <a:xfrm>
            <a:off x="6355080" y="2075688"/>
            <a:ext cx="2331720" cy="594360"/>
          </a:xfrm>
          <a:prstGeom prst="rect">
            <a:avLst/>
          </a:prstGeom>
          <a:noFill/>
          <a:ln/>
        </p:spPr>
        <p:txBody>
          <a:bodyPr wrap="square" lIns="0" tIns="0" rIns="0" bIns="0" rtlCol="0" anchor="ctr"/>
          <a:lstStyle/>
          <a:p>
            <a:pPr indent="0" marL="0">
              <a:buNone/>
            </a:pPr>
            <a:r>
              <a:rPr lang="en-US" sz="3000" b="1" dirty="0">
                <a:solidFill>
                  <a:srgbClr val="6FCF97"/>
                </a:solidFill>
                <a:latin typeface="Arial" pitchFamily="34" charset="0"/>
                <a:ea typeface="Arial" pitchFamily="34" charset="-122"/>
                <a:cs typeface="Arial" pitchFamily="34" charset="-120"/>
              </a:rPr>
              <a:t>135</a:t>
            </a:r>
            <a:endParaRPr lang="en-US" sz="3000" dirty="0"/>
          </a:p>
        </p:txBody>
      </p:sp>
      <p:sp>
        <p:nvSpPr>
          <p:cNvPr id="13" name="Text 11"/>
          <p:cNvSpPr txBox="1"/>
          <p:nvPr/>
        </p:nvSpPr>
        <p:spPr>
          <a:xfrm>
            <a:off x="6355080" y="2743200"/>
            <a:ext cx="2331720" cy="502920"/>
          </a:xfrm>
          <a:prstGeom prst="rect">
            <a:avLst/>
          </a:prstGeom>
          <a:noFill/>
          <a:ln/>
        </p:spPr>
        <p:txBody>
          <a:bodyPr wrap="square" lIns="0" tIns="0" rIns="0" bIns="0" rtlCol="0" anchor="ctr"/>
          <a:lstStyle/>
          <a:p>
            <a:pPr indent="0" marL="0">
              <a:lnSpc>
                <a:spcPct val="110000"/>
              </a:lnSpc>
              <a:buNone/>
            </a:pPr>
            <a:r>
              <a:rPr lang="en-US" sz="1150" dirty="0">
                <a:solidFill>
                  <a:srgbClr val="CADCFC"/>
                </a:solidFill>
                <a:latin typeface="Arial" pitchFamily="34" charset="0"/>
                <a:ea typeface="Arial" pitchFamily="34" charset="-122"/>
                <a:cs typeface="Arial" pitchFamily="34" charset="-120"/>
              </a:rPr>
              <a:t>pruebas automatizadas pasan</a:t>
            </a:r>
            <a:endParaRPr lang="en-US" sz="1150" dirty="0"/>
          </a:p>
        </p:txBody>
      </p:sp>
      <p:sp>
        <p:nvSpPr>
          <p:cNvPr id="14" name="Shape 12"/>
          <p:cNvSpPr/>
          <p:nvPr/>
        </p:nvSpPr>
        <p:spPr>
          <a:xfrm>
            <a:off x="9006840" y="1965960"/>
            <a:ext cx="2606040" cy="1371600"/>
          </a:xfrm>
          <a:prstGeom prst="roundRect">
            <a:avLst>
              <a:gd name="adj" fmla="val 6667"/>
            </a:avLst>
          </a:prstGeom>
          <a:solidFill>
            <a:srgbClr val="13385C"/>
          </a:solidFill>
          <a:ln/>
        </p:spPr>
      </p:sp>
      <p:sp>
        <p:nvSpPr>
          <p:cNvPr id="15" name="Text 13"/>
          <p:cNvSpPr txBox="1"/>
          <p:nvPr/>
        </p:nvSpPr>
        <p:spPr>
          <a:xfrm>
            <a:off x="9144000" y="2075688"/>
            <a:ext cx="2331720" cy="594360"/>
          </a:xfrm>
          <a:prstGeom prst="rect">
            <a:avLst/>
          </a:prstGeom>
          <a:noFill/>
          <a:ln/>
        </p:spPr>
        <p:txBody>
          <a:bodyPr wrap="square" lIns="0" tIns="0" rIns="0" bIns="0" rtlCol="0" anchor="ctr"/>
          <a:lstStyle/>
          <a:p>
            <a:pPr indent="0" marL="0">
              <a:buNone/>
            </a:pPr>
            <a:r>
              <a:rPr lang="en-US" sz="3000" b="1" dirty="0">
                <a:solidFill>
                  <a:srgbClr val="6FCF97"/>
                </a:solidFill>
                <a:latin typeface="Arial" pitchFamily="34" charset="0"/>
                <a:ea typeface="Arial" pitchFamily="34" charset="-122"/>
                <a:cs typeface="Arial" pitchFamily="34" charset="-120"/>
              </a:rPr>
              <a:t>49</a:t>
            </a:r>
            <a:endParaRPr lang="en-US" sz="3000" dirty="0"/>
          </a:p>
        </p:txBody>
      </p:sp>
      <p:sp>
        <p:nvSpPr>
          <p:cNvPr id="16" name="Text 14"/>
          <p:cNvSpPr txBox="1"/>
          <p:nvPr/>
        </p:nvSpPr>
        <p:spPr>
          <a:xfrm>
            <a:off x="9144000" y="2743200"/>
            <a:ext cx="2331720" cy="502920"/>
          </a:xfrm>
          <a:prstGeom prst="rect">
            <a:avLst/>
          </a:prstGeom>
          <a:noFill/>
          <a:ln/>
        </p:spPr>
        <p:txBody>
          <a:bodyPr wrap="square" lIns="0" tIns="0" rIns="0" bIns="0" rtlCol="0" anchor="ctr"/>
          <a:lstStyle/>
          <a:p>
            <a:pPr indent="0" marL="0">
              <a:lnSpc>
                <a:spcPct val="110000"/>
              </a:lnSpc>
              <a:buNone/>
            </a:pPr>
            <a:r>
              <a:rPr lang="en-US" sz="1150" dirty="0">
                <a:solidFill>
                  <a:srgbClr val="CADCFC"/>
                </a:solidFill>
                <a:latin typeface="Arial" pitchFamily="34" charset="0"/>
                <a:ea typeface="Arial" pitchFamily="34" charset="-122"/>
                <a:cs typeface="Arial" pitchFamily="34" charset="-120"/>
              </a:rPr>
              <a:t>observaciones de flutter analyze (línea base)</a:t>
            </a:r>
            <a:endParaRPr lang="en-US" sz="1150" dirty="0"/>
          </a:p>
        </p:txBody>
      </p:sp>
      <p:sp>
        <p:nvSpPr>
          <p:cNvPr id="17" name="Text 15"/>
          <p:cNvSpPr txBox="1"/>
          <p:nvPr/>
        </p:nvSpPr>
        <p:spPr>
          <a:xfrm>
            <a:off x="640080" y="3703320"/>
            <a:ext cx="10607040" cy="914400"/>
          </a:xfrm>
          <a:prstGeom prst="rect">
            <a:avLst/>
          </a:prstGeom>
          <a:noFill/>
          <a:ln/>
        </p:spPr>
        <p:txBody>
          <a:bodyPr wrap="square" lIns="0" tIns="0" rIns="0" bIns="0" rtlCol="0" anchor="ctr"/>
          <a:lstStyle/>
          <a:p>
            <a:pPr indent="0" marL="0">
              <a:lnSpc>
                <a:spcPct val="130000"/>
              </a:lnSpc>
              <a:buNone/>
            </a:pPr>
            <a:r>
              <a:rPr lang="en-US" sz="1400" dirty="0">
                <a:solidFill>
                  <a:srgbClr val="CADCFC"/>
                </a:solidFill>
                <a:latin typeface="Arial" pitchFamily="34" charset="0"/>
                <a:ea typeface="Arial" pitchFamily="34" charset="-122"/>
                <a:cs typeface="Arial" pitchFamily="34" charset="-120"/>
              </a:rPr>
              <a:t>La aplicación compila en Windows, Android y Web. Los cinco puntos de retroalimentación del tutor sobre el Incremento 1 quedan atendidos. Quedan tres anotaciones sin cerrar, ninguna bloqueante, documentadas para quien retome el proyecto en las tareas de cierre de octubre.</a:t>
            </a:r>
            <a:endParaRPr lang="en-US" sz="1400" dirty="0"/>
          </a:p>
        </p:txBody>
      </p:sp>
      <p:sp>
        <p:nvSpPr>
          <p:cNvPr id="18" name="Shape 16"/>
          <p:cNvSpPr/>
          <p:nvPr/>
        </p:nvSpPr>
        <p:spPr>
          <a:xfrm>
            <a:off x="640080" y="4800600"/>
            <a:ext cx="10607040" cy="0"/>
          </a:xfrm>
          <a:prstGeom prst="line">
            <a:avLst/>
          </a:prstGeom>
          <a:noFill/>
          <a:ln w="12700">
            <a:solidFill>
              <a:srgbClr val="2C5578"/>
            </a:solidFill>
            <a:prstDash val="solid"/>
          </a:ln>
        </p:spPr>
      </p:sp>
      <p:sp>
        <p:nvSpPr>
          <p:cNvPr id="19" name="Text 17"/>
          <p:cNvSpPr txBox="1"/>
          <p:nvPr/>
        </p:nvSpPr>
        <p:spPr>
          <a:xfrm>
            <a:off x="640080" y="5074920"/>
            <a:ext cx="10607040" cy="1371600"/>
          </a:xfrm>
          <a:prstGeom prst="rect">
            <a:avLst/>
          </a:prstGeom>
          <a:noFill/>
          <a:ln/>
        </p:spPr>
        <p:txBody>
          <a:bodyPr wrap="square" lIns="0" tIns="0" rIns="0" bIns="0" rtlCol="0" anchor="ctr"/>
          <a:lstStyle/>
          <a:p>
            <a:pPr indent="0" marL="0">
              <a:lnSpc>
                <a:spcPct val="130000"/>
              </a:lnSpc>
              <a:buNone/>
            </a:pPr>
            <a:r>
              <a:rPr lang="en-US" sz="1500" i="1" dirty="0">
                <a:solidFill>
                  <a:srgbClr val="FFFFFF"/>
                </a:solidFill>
                <a:latin typeface="Arial" pitchFamily="34" charset="0"/>
                <a:ea typeface="Arial" pitchFamily="34" charset="-122"/>
                <a:cs typeface="Arial" pitchFamily="34" charset="-120"/>
              </a:rPr>
              <a:t>El resultado más transferible del sprint no es una cifra sino un método: la disciplina de doble verificación — código contra corpus, cada afirmación reproducida de forma independiente antes de aceptarse — detectó y corrigió errores de los tres participantes del proceso, incluido quien lo documenta.</a:t>
            </a:r>
            <a:endParaRPr lang="en-US" sz="1500" dirty="0"/>
          </a:p>
        </p:txBody>
      </p:sp>
      <p:sp>
        <p:nvSpPr>
          <p:cNvPr id="20" name="Text 18"/>
          <p:cNvSpPr/>
          <p:nvPr/>
        </p:nvSpPr>
        <p:spPr>
          <a:xfrm>
            <a:off x="11548872" y="6446520"/>
            <a:ext cx="457200" cy="274320"/>
          </a:xfrm>
          <a:prstGeom prst="rect">
            <a:avLst/>
          </a:prstGeom>
          <a:noFill/>
          <a:ln/>
        </p:spPr>
        <p:txBody>
          <a:bodyPr wrap="square" rtlCol="0" anchor="ctr"/>
          <a:lstStyle/>
          <a:p>
            <a:pPr algn="r" indent="0" marL="0">
              <a:buNone/>
            </a:pPr>
            <a:r>
              <a:rPr lang="en-US" sz="1000" dirty="0">
                <a:solidFill>
                  <a:srgbClr val="5B6B76"/>
                </a:solidFill>
                <a:latin typeface="Arial" pitchFamily="34" charset="0"/>
                <a:ea typeface="Arial" pitchFamily="34" charset="-122"/>
                <a:cs typeface="Arial"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Cierre técnico del Sprint 1 — BayStream</dc:title>
  <dc:subject>PptxGenJS Presentation</dc:subject>
  <dc:creator>Carlos Giovanni Martínez Aldana</dc:creator>
  <cp:lastModifiedBy>Carlos Giovanni Martínez Aldana</cp:lastModifiedBy>
  <cp:revision>1</cp:revision>
  <dcterms:created xsi:type="dcterms:W3CDTF">2026-09-04T17:53:35Z</dcterms:created>
  <dcterms:modified xsi:type="dcterms:W3CDTF">2026-09-04T17:53:35Z</dcterms:modified>
</cp:coreProperties>
</file>