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22A"/>
                </a:solidFill>
                <a:latin typeface="Calibri"/>
              </a:rPr>
              <a:t>Esfuerzo por tipo de tarea (horas)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2E475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E6B7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Interfaz</c:v>
                  </c:pt>
                  <c:pt idx="1">
                    <c:v>Datos</c:v>
                  </c:pt>
                  <c:pt idx="2">
                    <c:v>Infraestructura</c:v>
                  </c:pt>
                  <c:pt idx="3">
                    <c:v>Dominio</c:v>
                  </c:pt>
                  <c:pt idx="4">
                    <c:v>Prueba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6.5</c:v>
                </c:pt>
                <c:pt idx="1">
                  <c:v>1.25</c:v>
                </c:pt>
                <c:pt idx="2">
                  <c:v>1</c:v>
                </c:pt>
                <c:pt idx="3">
                  <c:v>0.5</c:v>
                </c:pt>
                <c:pt idx="4">
                  <c:v>0.5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5E6B7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622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 del Incremento 1. Sprint del 22 al 29 de agosto. El sprint quedo cerrado el 25 de agosto, cuatro dias antes del limite.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clave: cerre cuatro dias antes. Eso no fue suerte, fue el orden de ataque por riesgo. La tarea mas incierta, verificar el paquete PDF en tres plataformas, fue la primera.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 donde conviene pasar a la demostracion en vivo. Mostrar: peso por nivel en el bay plan, el perfil longitudinal con la navegacion al tocar una bahia, y el menu de exportacion con los tres formatos.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catedratico pregunta por evidencia, esta es la diapositiva. Cada hash es verificable con git 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matiz de las 49 advertencias preexistentes es importante: no las escondo, estan declaradas y diferidas a TC-01 con justificacion.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que diferencia el trabajo. Aplicar dos catalogos no es rigor decorativo: es lo que exige un producto multiplataforma, y ademas matiza H4 honestamente.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criticos. El de fondo: no hay autenticacion, y eso esta fuera de alcance por decision. Lo que no estaba evaluado era la consecuencia: sin reglas versionadas, la coleccion aceptaba borrado anonimo.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el error propio aqui es lo que hace fuerte la diapositiva. La auditoria dijo borrado anonimo y era falso: las reglas ya lo negaban. Y estimo el vencimiento en septiembre cuando ya habia pasado. Ambos errores por no poder leer las reglas, que es exactamente lo que H-01 denunciaba.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es deliberada. Un reporte que solo dice lo que hizo se lee como mas exhaustivo de lo que 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Declararlo yo antes de que lo pregunten. Tres discrepancias ERS-codigo: RF-011, RF-014 y RF-020. Hay que corregir el 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mencionando que el sprint 2 arranca el 19 de septiembre y que RF-027 es donde esta la contribucion original de la 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41732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141732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41732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4752" y="141732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41732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7088" y="141732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48256" y="141732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9424" y="141732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Incremento 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calidad del Sprint 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3108960" cy="18288"/>
          </a:xfrm>
          <a:prstGeom prst="rect">
            <a:avLst/>
          </a:prstGeom>
          <a:solidFill>
            <a:srgbClr val="2E47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BayStream — Ecosistema multiplataforma para la planificación de estiba de buques portacontenedores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Giovanni Martínez Aldana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F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0909-22-19157  ·  Proyecto de Graduación II  ·  Ing. Juan Pablo Escobar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08415" y="5120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22/08/2026 — 29/08/2026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comprometido y lo entregado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cerrado el 25 de agosto, cuatro días antes del límite de la ventana.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2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21284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8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18/18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41248" y="29260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terminadas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32004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quedó abierta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47288" y="205740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2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8456" y="221284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4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9.75 h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648456" y="29260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neto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8456" y="32004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12 h de capacidad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54496" y="205740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2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221284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4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pts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55664" y="29260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entregados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55664" y="32004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elementos del backlog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61704" y="205740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2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2872" y="221284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262872" y="29260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62872" y="32004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trazables en el repositorio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3434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tarea se desvió más del doble de su estimación.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70916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ataque fue por riesgo decreciente, no por numeración: lo que podía invalidar un requerimiento completo se verificó el primer día. La holgura de 2.25 h nunca se consumió.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funcionalidades entregadas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Descritas por el valor que aportan al planificador, no por su implementación.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2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185416"/>
            <a:ext cx="118872" cy="118872"/>
          </a:xfrm>
          <a:prstGeom prst="rect">
            <a:avLst/>
          </a:prstGeom>
          <a:solidFill>
            <a:srgbClr val="A8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82112" y="21031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242316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peso por nivel (tier)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2843784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acumulado de cada nivel, visible en el plano de bahía. El nivel que excede el límite se resalta.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70832" y="196596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2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185416"/>
            <a:ext cx="118872" cy="118872"/>
          </a:xfrm>
          <a:prstGeom prst="rect">
            <a:avLst/>
          </a:prstGeom>
          <a:solidFill>
            <a:srgbClr val="3F8F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12864" y="21031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242316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vacío del buscador con estadísticas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2843784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abrir el buscador, las navieras y puertos con más carga del viaje, ordenados por frecuencia y tocables.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01584" y="196596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2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752" y="2185416"/>
            <a:ext cx="118872" cy="118872"/>
          </a:xfrm>
          <a:prstGeom prst="rect">
            <a:avLst/>
          </a:prstGeom>
          <a:solidFill>
            <a:srgbClr val="A8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13064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43616" y="210312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02752" y="242316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reporte en PDF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02752" y="2843784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PDF del viaje: portada de métricas, una página por bahía y la tabla ordenada por coordenada.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11480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2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4334256"/>
            <a:ext cx="118872" cy="118872"/>
          </a:xfrm>
          <a:prstGeom prst="rect">
            <a:avLst/>
          </a:prstGeom>
          <a:solidFill>
            <a:srgbClr val="3F8F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RF-026+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182112" y="42519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1248" y="457200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longitudinal del buque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" y="4992624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buque completo en una vista. Alterna ocupación y peso, y toca una bahía para saltar a su plano.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70832" y="411480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2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334256"/>
            <a:ext cx="118872" cy="118872"/>
          </a:xfrm>
          <a:prstGeom prst="rect">
            <a:avLst/>
          </a:prstGeom>
          <a:solidFill>
            <a:srgbClr val="A848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RF-033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912864" y="425196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0" y="457200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datos en formatos estándar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0" y="4992624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en CSV —legible por Excel con acentos— y en JSON derivado del propio modelo de dominio.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101584" y="411480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1B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02752" y="44348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base de código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302752" y="486460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cinco quedaron disponibles en Windows, Android y navegador sin implementarse tres veces.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tarjeta al repositorio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termina en una confirmación verificable. No se afirma que exista: se señala dónde está.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766560"/>
                <a:gridCol w="25420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48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52ec4da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RF-025: verificar paquete PDF en las tres plataformas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48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f5c84fb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RF-026+: anadir perfil longitudinal con ocupacion y peso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T-17, T-18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48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5b260d8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RF-012: anadir indicadores de peso por nivel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T-01 … T-04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48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e0f41a6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RF-033: exportar viaje en CSV y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T-13 … T-16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48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c9e48b2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RF-025: generar y guardar reporte PDF 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T-09 … T-12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48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51e8bb6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RF-026+: integrar perfil longitudinal con Bay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T-19, T-20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48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80dde67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RF-020: ordenar navieras y puertos por frecuencia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5074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verificado contra la rama remota el 25 de agosto de 2026.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del incremento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contra la Definición de Terminado fijada antes de comenzar el trabajo.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→ 31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60320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regresiones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8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2871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Advertencias nuevas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60320" y="3145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preexistentes, declaradas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6941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60320" y="37124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compiladas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560320" y="3986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Android · Web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535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60320" y="4553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añadida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560320" y="4828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evaluada y rechazada</a:t>
            </a:r>
            <a:endParaRPr lang="en-US" sz="11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309360" y="196596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40080" y="54406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condición exige cero advertencias NUEVAS, no cero absoluto: la limpieza de las preexistentes tiene su propia tarea en octubre.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sprint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aplicaron dos catálogos y no uno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5294376" cy="1691640"/>
          </a:xfrm>
          <a:prstGeom prst="roundRect">
            <a:avLst>
              <a:gd name="adj" fmla="val 4324"/>
            </a:avLst>
          </a:prstGeom>
          <a:solidFill>
            <a:srgbClr val="2437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5798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9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432304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Top 10:2025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2871216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paquete del navegador es público e inspeccionable. Es la versión vigente del catálogo web.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2011680"/>
            <a:ext cx="5294376" cy="1691640"/>
          </a:xfrm>
          <a:prstGeom prst="roundRect">
            <a:avLst>
              <a:gd name="adj" fmla="val 4324"/>
            </a:avLst>
          </a:prstGeom>
          <a:solidFill>
            <a:srgbClr val="2437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15798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59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Android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28816" y="2432304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Mobile Top 10 2024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28816" y="2871216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artefacto es un archivo instalable, sujeto a riesgos de almacenamiento local y de protección del binario.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1091153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24528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enfoque multiplataforma duplica la superficie normativa.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4645152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BayStream se distribuye en tres clientes desde una sola base de código. El ahorro de esfuerzo se verifica en la construcción, pero no se traslada automáticamente al aseguramiento: hay que evaluar contra dos catálogos, no uno. Reconocerlo delimita el alcance de la hipótesis H4 con precisión, en lugar de presentarla como una reducción de esfuerzo sin costos.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hallazgos, todos con tratamiento asignado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sobre la confirmación 80dde67, corregida el 25-ago al observar las reglas reales. Los dos críticos ya están resueltos.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4114800"/>
                <a:gridCol w="960120"/>
                <a:gridCol w="1051560"/>
                <a:gridCol w="960120"/>
                <a:gridCol w="325526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Hallazgo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10:2025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2024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75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reglas de autorización bajo control de versiones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53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A01:2025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Resuelto · publicado y verificado 25-ago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autenticación; creación y actualización anónimas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65D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A01, A07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Acotado; resolución en TC-03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prueba EXPIRADAS el 17-ago: acceso denegado durante ocho días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53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A02:2025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Resuelto · reglas sin expiración, 25-ago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Credenciales de Firebase escritas en duro en el código fuente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5D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A02:2025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Declarado; resolución en TC-04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crudo de excepciones expuesto en mensajes de interfaz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A10:2025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Diferido a TC-01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registro de eventos ni alertas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A09:2025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Diferido a TC-03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análisis automatizado de vulnerabilidades en dependencias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A03:2025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E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Diferido a TC-03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2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hallazgo crítico y su resolución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H-01 y H-03 comparten una raíz común: lo que no se versiona, no se revisa.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5294376" cy="2880360"/>
          </a:xfrm>
          <a:prstGeom prst="roundRect">
            <a:avLst>
              <a:gd name="adj" fmla="val 2540"/>
            </a:avLst>
          </a:prstGeom>
          <a:solidFill>
            <a:srgbClr val="FBEF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194560"/>
            <a:ext cx="118872" cy="118872"/>
          </a:xfrm>
          <a:prstGeom prst="rect">
            <a:avLst/>
          </a:prstGeom>
          <a:solidFill>
            <a:srgbClr val="B440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121408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estaba pasando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487168"/>
            <a:ext cx="47457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autorización habían expirado el 17 de agosto. Llevaban ocho días negando todo acceso.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sincronización estaba caída, no en riesgo. Nadie lo notó porque ninguna de las cinco funcionalidades del incremento usa Firestore.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auditoría no pudo verlo: las reglas no estaban en el repositorio, así que hubo que inferirlas. Dos de tres inferencias salieron mal.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4496" y="1965960"/>
            <a:ext cx="5294376" cy="2880360"/>
          </a:xfrm>
          <a:prstGeom prst="roundRect">
            <a:avLst>
              <a:gd name="adj" fmla="val 2540"/>
            </a:avLst>
          </a:prstGeom>
          <a:solidFill>
            <a:srgbClr val="EBF3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28816" y="2194560"/>
            <a:ext cx="118872" cy="118872"/>
          </a:xfrm>
          <a:prstGeom prst="rect">
            <a:avLst/>
          </a:prstGeom>
          <a:solidFill>
            <a:srgbClr val="3F8F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2121408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hizo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28816" y="2487168"/>
            <a:ext cx="47457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versionadas, publicadas y verificadas contra el protocolo real.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cláusula de expiración, así que no se repite. Niegan el borrado, cierran toda colección no declarada y quedan bajo control de versiones, donde sí pueden revisarse.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en vivo el 25-ago: 3 de 3 eventos C1 cerraron. La instrumentación de H5 queda operativa y reproducible.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autenticación real sigue fuera de alcance: TC-03 y TC-04, en octubre.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1B2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28523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hallazgo se demostró a sí mismo.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5705856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H-01 decía que las reglas no eran revisables. La consecuencia fue una auditoría que tuvo que inferirlas y se equivocó en dos de tres. Ningún argumento teórico sobre versionar la configuración de seguridad convence tanto como esto.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esta evaluación no cubrió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Omitir esta declaración permitiría leer el reporte como más exhaustivo de lo que 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118872" cy="118872"/>
          </a:xfrm>
          <a:prstGeom prst="rect">
            <a:avLst/>
          </a:prstGeom>
          <a:solidFill>
            <a:srgbClr val="5E6B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842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dinámico contra el despliegue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98424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un entorno desplegado; el proyecto de producción se crea en TC-04.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118872" cy="118872"/>
          </a:xfrm>
          <a:prstGeom prst="rect">
            <a:avLst/>
          </a:prstGeom>
          <a:solidFill>
            <a:srgbClr val="5E6B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82549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del estado real de las reglas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82549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H-03 se infiere del comportamiento por defecto de la plataforma, no de una observación directa.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785616"/>
            <a:ext cx="118872" cy="118872"/>
          </a:xfrm>
          <a:prstGeom prst="rect">
            <a:avLst/>
          </a:prstGeom>
          <a:solidFill>
            <a:srgbClr val="5E6B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667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del binario Android (M7)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366674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herramientas de ingeniería inversa fuera del alcance declarado.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118872" cy="118872"/>
          </a:xfrm>
          <a:prstGeom prst="rect">
            <a:avLst/>
          </a:prstGeom>
          <a:solidFill>
            <a:srgbClr val="5E6B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50799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dependencias transitivas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450799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integrar una herramienta de inventario en el flujo de construcción.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4406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2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6235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constituyen el alcance de TC-03 · Pruebas de Seguridad, del 18 al 24 de octubre de 2026.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ajuste de alcance que conviene declarar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13385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RF-020 ya estaba implementado desde febrero.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419856" cy="2103120"/>
          </a:xfrm>
          <a:prstGeom prst="roundRect">
            <a:avLst>
              <a:gd name="adj" fmla="val 3478"/>
            </a:avLst>
          </a:prstGeom>
          <a:solidFill>
            <a:srgbClr val="F2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305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planificado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246888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T-05, T-06 y T-07 · 1.0 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907792"/>
            <a:ext cx="2907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estado vacío del buscador con estadísticas del viaje.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9976" y="1965960"/>
            <a:ext cx="3419856" cy="2103120"/>
          </a:xfrm>
          <a:prstGeom prst="roundRect">
            <a:avLst>
              <a:gd name="adj" fmla="val 3478"/>
            </a:avLst>
          </a:prstGeom>
          <a:solidFill>
            <a:srgbClr val="FDF4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21305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65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encontrado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36008" y="246888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implementado desde cb1861f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36008" y="2907792"/>
            <a:ext cx="2907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febrero de 2026. Los tres criterios de aceptación se cumplían.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9872" y="1965960"/>
            <a:ext cx="3419856" cy="2103120"/>
          </a:xfrm>
          <a:prstGeom prst="roundRect">
            <a:avLst>
              <a:gd name="adj" fmla="val 3478"/>
            </a:avLst>
          </a:prstGeom>
          <a:solidFill>
            <a:srgbClr val="EBF3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21305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ejecutado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75904" y="246888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T-21 · 0.25 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75904" y="2907792"/>
            <a:ext cx="2907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un defecto real: el estado vacío tomaba las cinco primeras navieras en orden de inserción, no las cinco más frecuentes.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10911535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57200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tercer caso: el ERS también consigna RF-011 y RF-014 como propuestos cuando el código demuestra lo contrario.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4956048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casos ya no son un descuido aislado sino un patrón: el ERS dejó de actualizarse al ritmo del desarrollo. La corrección del documento queda registrada como tarea pendiente. El efecto positivo es que la revisión previa evitó reimplementar funcionalidad existente y detectó un defecto genuino que llevaba seis meses inadvertido — y la prueba escrita para T-21 falla contra la implementación anterior, lo que la convierte en una prueba de regresión efectiva.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0584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00584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100584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00584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4752" y="100584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00584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7088" y="100584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48256" y="100584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9424" y="1005840"/>
            <a:ext cx="155448" cy="155448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17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y siguiente paso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40080" y="2624328"/>
            <a:ext cx="118872" cy="118872"/>
          </a:xfrm>
          <a:prstGeom prst="rect">
            <a:avLst/>
          </a:prstGeom>
          <a:solidFill>
            <a:srgbClr val="3F8F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4871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F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389120" y="248716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Completo. 18 tareas, 7 confirmaciones, 31 pruebas en verde.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118872" cy="118872"/>
          </a:xfrm>
          <a:prstGeom prst="rect">
            <a:avLst/>
          </a:prstGeom>
          <a:solidFill>
            <a:srgbClr val="E872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284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87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89120" y="3328416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hallazgos documentados. El crítico, mitigado. Los demás, con fecha asignada.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306824"/>
            <a:ext cx="118872" cy="118872"/>
          </a:xfrm>
          <a:prstGeom prst="rect">
            <a:avLst/>
          </a:prstGeom>
          <a:solidFill>
            <a:srgbClr val="7FA8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1696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19 sep — 17 oct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89120" y="41696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RF-027, validación de reglas de estiba: la innovación central de la investigación.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148072"/>
            <a:ext cx="118872" cy="118872"/>
          </a:xfrm>
          <a:prstGeom prst="rect">
            <a:avLst/>
          </a:prstGeom>
          <a:solidFill>
            <a:srgbClr val="7FA8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010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18 — 24 oct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89120" y="5010912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 a TC-05: calidad, manual, pruebas de seguridad, despliegue y presentación final.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Giovanni Martínez Aldana  ·  0909-22-19157  ·  29 de agosto de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BayStream — Incremento 1</dc:title>
  <dc:subject>PptxGenJS Presentation</dc:subject>
  <dc:creator>Carlos Giovanni Martínez Aldana</dc:creator>
  <cp:lastModifiedBy>Carlos Giovanni Martínez Aldana</cp:lastModifiedBy>
  <cp:revision>1</cp:revision>
  <dcterms:created xsi:type="dcterms:W3CDTF">2026-08-25T23:18:14Z</dcterms:created>
  <dcterms:modified xsi:type="dcterms:W3CDTF">2026-08-25T23:18:14Z</dcterms:modified>
</cp:coreProperties>
</file>