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b9c104cf-0678-7064-0a9a-09c9f9800e10}">
          <p14:sldIdLst>
            <p14:sldId id="256"/>
          </p14:sldIdLst>
        </p14:section>
        <p14:section name="Revisión del sprint" id="{963b803e-ffc4-9de9-94f0-06a01ac13b1f}">
          <p14:sldIdLst>
            <p14:sldId id="257"/>
            <p14:sldId id="258"/>
            <p14:sldId id="259"/>
            <p14:sldId id="260"/>
          </p14:sldIdLst>
        </p14:section>
        <p14:section name="Calidad y seguridad" id="{06e0c74f-3430-c9cf-271a-cd04c96aeef3}">
          <p14:sldIdLst>
            <p14:sldId id="261"/>
            <p14:sldId id="262"/>
            <p14:sldId id="263"/>
            <p14:sldId id="264"/>
          </p14:sldIdLst>
        </p14:section>
        <p14:section name="Despliegue" id="{3f70959b-178e-614c-e999-eaa91e725b4f}">
          <p14:sldIdLst>
            <p14:sldId id="265"/>
          </p14:sldIdLst>
        </p14:section>
        <p14:section name="Retrospectiva" id="{20d18b8d-79ba-6cdd-4cea-083e762d30c1}">
          <p14:sldIdLst>
            <p14:sldId id="266"/>
            <p14:sldId id="267"/>
          </p14:sldIdLst>
        </p14:section>
        <p14:section name="Cierre" id="{f6e48540-7f55-cb5b-13e3-81e58dd282f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6222A"/>
                </a:solidFill>
                <a:latin typeface="+mn-lt"/>
              </a:rPr>
              <a:t>Pruebas automáticas durante el sprint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Pruebas</c:v>
                </c:pt>
              </c:strCache>
            </c:strRef>
          </c:tx>
          <c:spPr>
            <a:solidFill>
              <a:srgbClr val="1622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2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Apertura 19‑sep</c:v>
                  </c:pt>
                  <c:pt idx="1">
                    <c:v>23‑sep</c:v>
                  </c:pt>
                  <c:pt idx="2">
                    <c:v>T‑43 27‑sep</c:v>
                  </c:pt>
                  <c:pt idx="3">
                    <c:v>Candidata 30‑sep</c:v>
                  </c:pt>
                  <c:pt idx="4">
                    <c:v>Final 1‑oct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138</c:v>
                </c:pt>
                <c:pt idx="1">
                  <c:v>169</c:v>
                </c:pt>
                <c:pt idx="2">
                  <c:v>202</c:v>
                </c:pt>
                <c:pt idx="3">
                  <c:v>260</c:v>
                </c:pt>
                <c:pt idx="4">
                  <c:v>282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2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Incremento 2: el Sprint 2, del 19 de septiembre al 17 de octubre. El objetivo del sprint fue que la aplicación dejara de inferir el buque y pasara a conocerlo, y validar la posición sobre ese perfil. Además adelantamos tres tareas de cierre: calidad, seguridad y despliegue.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números del sprint. 25 de 26 tareas terminadas, 33 de 35 horas. La tarea abierta es T‑49: la app ya está publicada en la prueba interna de Google Play desde el 3 de octubre, y solo falta comprobar su instalación desde la tienda en el teléfono. La holgura del 34 por ciento se reservó para lo que destapara la verificación con archivos reales, y se usó casi completa en 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del sprint la aplicación deducía la geometría del buque de cada archivo y la olvidaba al cerrarlo. Ahora el planificador la declara una vez, y la deducción quedó como una propuesta que él confirma. Sobre ese perfil funciona la validación de RF‑027. Aquí conviene pasar a la demostración: cargar CORPUS_A03, abrir el panel de alertas y tocar una alerta para saltar a su posición en el 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validaciones de RF‑027. La decisión de diseño importante es el tercer estado: si una regla no tiene datos para decidir, no dice conforme, dice no evaluada y explica por qué. En CHARLIE hay 100 no evaluados: 99 por la regla de grupos de segregación y 1 por una excepción de la norma; ninguno sin motivo. La segregación usa 49 CFR, no el Código IMDG, y eso se declara en cada alerta.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catedrático pide evidencia, esta es la diapositiva: cada hash se puede abrir con git show. Todas las confirmaciones las ejecuté yo; los agentes escriben el código y me entregan los comandos.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138 pruebas al abrir a 282 al cerrar, sin retirar ni omitir ninguna. El análisis estático pasó de 49 advertencias heredadas a cero sin silenciar ninguna. Lo único que no se cumple de la Definición de Terminado es el arranque de la Web sin conexión: descarga el motor y la fuente desde servidores de Google. Lo decidí declarar como limitación; el caso del muelle sin señal lo cubre Android.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primera medición la hizo un programador sobre la versión candidata; la segunda, el otro, sobre los binarios finales. Solo cambió el dictamen de RNF‑006. El dato nuevo: la memoria de Windows depende sobre todo del tamaño de la ventana. La propuesta de criterios operativos tiene una regla contra el sesgo: define cómo se mide, no cuánto se exige. Qué se mide es una decisión de la planificación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Ninguno quedó sin tratamiento. Los dos en naranja son los que no se cierran del todo. H‑02: publicamos las reglas sin autenticación porque el producto no usa Firestore; solo lo usa la instrumentación de H5, y el riesgo residual está declarado. H‑06: el registro de accesos funciona, pero las alertas automáticas no funcionaron en el plan gratuito; las reemplacé con una consulta guardada y un procedimiento de revisión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de RNF‑004 y de la sección de seguridad de los datos de Google Play. No lo afirmo por el código: lo medimos. En Android se usaron cuatro instrumentos, incluidos los contadores del sistema, que cuentan cada paquete. Y el hallazgo de método: un cero en segundo plano no prueba nada porque el sistema bloquea la red; lo detectó el programador y midió otra vez en primer 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Web está publicada y es exactamente el mismo archivo que medimos. Android está firmado con la clave de subida, que está respaldada fuera del repositorio, y la versión 1 ya está publicada en la prueba interna. Si pregunta por la tienda pública: Google pide 12 testers durante 14 días antes de producción, y eso va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más pesó en contra fue mío como organizador: los trámites de Google se planearon para el primer día y empezaron el día 13, por eso la publicación en Play es lo único abierto. Lo que más funcionó fue la doble prueba: cuando otro revisa, aparecen errores que el primero dio por buenos, incluidos los de quien planifica.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H3: el instrumento que pide la tesis es el módulo de muelle de los casos de uso CU04 y CU10, y ningún requerimiento funcional lo recogió. Lo detectamos al planificar el Sprint 3, donde entra como requerimiento nuevo; las reglas de RF‑027 son la pieza que ese módulo aplicará. H4: la evidencia es consistente en la construcción, pero el aseguramiento se multiplica por tres. H5: la serie de latencia está intacta, pero el producto no sincroniza por Firestore; cómo se reporta eso en la tesis es una decisión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Cierro con el estado. El sprint cumplió su objetivo; la app ya está en la prueba interna de Google Play. El Sprint 3 cierra el 24 de octubre con el módulo de muelle sincronizado, las tapas de escotilla, el plan de carga, el BAPLIE de salida, el manual y la presentación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62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908792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BayStream · Incremento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162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908792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8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rtada-punto-1"/>
          <p:cNvSpPr/>
          <p:nvPr/>
        </p:nvSpPr>
        <p:spPr>
          <a:xfrm>
            <a:off x="640080" y="1417320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portada-punto-2"/>
          <p:cNvSpPr/>
          <p:nvPr/>
        </p:nvSpPr>
        <p:spPr>
          <a:xfrm>
            <a:off x="804672" y="1417320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portada-punto-3"/>
          <p:cNvSpPr/>
          <p:nvPr/>
        </p:nvSpPr>
        <p:spPr>
          <a:xfrm>
            <a:off x="969264" y="1417320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portada-punto-4"/>
          <p:cNvSpPr/>
          <p:nvPr/>
        </p:nvSpPr>
        <p:spPr>
          <a:xfrm>
            <a:off x="1133856" y="1417320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portada-punto-5"/>
          <p:cNvSpPr/>
          <p:nvPr/>
        </p:nvSpPr>
        <p:spPr>
          <a:xfrm>
            <a:off x="1298448" y="1417320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portada-titulo"/>
          <p:cNvSpPr txBox="1"/>
          <p:nvPr/>
        </p:nvSpPr>
        <p:spPr>
          <a:xfrm>
            <a:off x="64008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Incremento 2</a:t>
            </a:r>
            <a:endParaRPr lang="en-US" sz="4400" dirty="0"/>
          </a:p>
        </p:txBody>
      </p:sp>
      <p:sp>
        <p:nvSpPr>
          <p:cNvPr id="8" name="portada-subtitulo"/>
          <p:cNvSpPr txBox="1"/>
          <p:nvPr/>
        </p:nvSpPr>
        <p:spPr>
          <a:xfrm>
            <a:off x="64008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A8BC"/>
                </a:solidFill>
              </a:rPr>
              <a:t>Seguridad y calidad del Sprint 2</a:t>
            </a:r>
            <a:endParaRPr lang="en-US" sz="2000" dirty="0"/>
          </a:p>
        </p:txBody>
      </p:sp>
      <p:sp>
        <p:nvSpPr>
          <p:cNvPr id="9" name="portada-proyecto"/>
          <p:cNvSpPr txBox="1"/>
          <p:nvPr/>
        </p:nvSpPr>
        <p:spPr>
          <a:xfrm>
            <a:off x="640080" y="3429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2CB"/>
                </a:solidFill>
              </a:rPr>
              <a:t>BayStream — Ecosistema multiplataforma para la planificación de estiba de buques portacontenedores</a:t>
            </a:r>
            <a:endParaRPr lang="en-US" sz="1400" dirty="0"/>
          </a:p>
        </p:txBody>
      </p:sp>
      <p:sp>
        <p:nvSpPr>
          <p:cNvPr id="10" name="portada-autor"/>
          <p:cNvSpPr txBox="1"/>
          <p:nvPr/>
        </p:nvSpPr>
        <p:spPr>
          <a:xfrm>
            <a:off x="640080" y="5120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Carlos Giovanni Martínez Aldana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7FA8BC"/>
                </a:solidFill>
              </a:rPr>
              <a:t>0909-22-19157  ·  Proyecto de Graduación II  ·  Ing. Juan Pablo Escobar</a:t>
            </a:r>
            <a:endParaRPr lang="en-US" sz="1600" dirty="0"/>
          </a:p>
        </p:txBody>
      </p:sp>
      <p:sp>
        <p:nvSpPr>
          <p:cNvPr id="11" name="portada-fechas"/>
          <p:cNvSpPr txBox="1"/>
          <p:nvPr/>
        </p:nvSpPr>
        <p:spPr>
          <a:xfrm>
            <a:off x="7863840" y="548640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19/09/2026 — 17/10/2026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comprometido y lo entregado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al 3 de octubre de 2026. Solo falta instalar desde Google Play la versión ya publicada.</a:t>
            </a:r>
            <a:endParaRPr lang="en-US" sz="1400" dirty="0"/>
          </a:p>
        </p:txBody>
      </p:sp>
      <p:sp>
        <p:nvSpPr>
          <p:cNvPr id="4" name="motivo-punto-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motivo-punto-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otivo-punto-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motivo-punto-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motivo-punto-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cifra-tareas"/>
          <p:cNvSpPr/>
          <p:nvPr/>
        </p:nvSpPr>
        <p:spPr>
          <a:xfrm>
            <a:off x="640080" y="2057400"/>
            <a:ext cx="2487168" cy="178308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0" name="cifra-tareas-cifra"/>
          <p:cNvSpPr txBox="1"/>
          <p:nvPr/>
        </p:nvSpPr>
        <p:spPr>
          <a:xfrm>
            <a:off x="841248" y="221284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25/26</a:t>
            </a:r>
            <a:endParaRPr lang="en-US" sz="3800" dirty="0"/>
          </a:p>
        </p:txBody>
      </p:sp>
      <p:sp>
        <p:nvSpPr>
          <p:cNvPr id="11" name="cifra-tareas-rotulo"/>
          <p:cNvSpPr txBox="1"/>
          <p:nvPr/>
        </p:nvSpPr>
        <p:spPr>
          <a:xfrm>
            <a:off x="841248" y="292608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Tareas terminadas</a:t>
            </a:r>
            <a:endParaRPr lang="en-US" sz="1300" dirty="0"/>
          </a:p>
        </p:txBody>
      </p:sp>
      <p:sp>
        <p:nvSpPr>
          <p:cNvPr id="12" name="cifra-tareas-nota"/>
          <p:cNvSpPr txBox="1"/>
          <p:nvPr/>
        </p:nvSpPr>
        <p:spPr>
          <a:xfrm>
            <a:off x="841248" y="32004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T‑49 publicada en la prueba interna; falta instalarla</a:t>
            </a:r>
            <a:endParaRPr lang="en-US" sz="1150" dirty="0"/>
          </a:p>
        </p:txBody>
      </p:sp>
      <p:sp>
        <p:nvSpPr>
          <p:cNvPr id="13" name="cifra-horas"/>
          <p:cNvSpPr/>
          <p:nvPr/>
        </p:nvSpPr>
        <p:spPr>
          <a:xfrm>
            <a:off x="3447288" y="2057400"/>
            <a:ext cx="2487168" cy="178308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4" name="cifra-horas-cifra"/>
          <p:cNvSpPr txBox="1"/>
          <p:nvPr/>
        </p:nvSpPr>
        <p:spPr>
          <a:xfrm>
            <a:off x="3648456" y="221284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33.0 h</a:t>
            </a:r>
            <a:endParaRPr lang="en-US" sz="3800" dirty="0"/>
          </a:p>
        </p:txBody>
      </p:sp>
      <p:sp>
        <p:nvSpPr>
          <p:cNvPr id="15" name="cifra-horas-rotulo"/>
          <p:cNvSpPr txBox="1"/>
          <p:nvPr/>
        </p:nvSpPr>
        <p:spPr>
          <a:xfrm>
            <a:off x="3648456" y="292608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Esfuerzo terminado</a:t>
            </a:r>
            <a:endParaRPr lang="en-US" sz="1300" dirty="0"/>
          </a:p>
        </p:txBody>
      </p:sp>
      <p:sp>
        <p:nvSpPr>
          <p:cNvPr id="16" name="cifra-horas-nota"/>
          <p:cNvSpPr txBox="1"/>
          <p:nvPr/>
        </p:nvSpPr>
        <p:spPr>
          <a:xfrm>
            <a:off x="3648456" y="32004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de 35.0 h comprometidas</a:t>
            </a:r>
            <a:endParaRPr lang="en-US" sz="1150" dirty="0"/>
          </a:p>
        </p:txBody>
      </p:sp>
      <p:sp>
        <p:nvSpPr>
          <p:cNvPr id="17" name="cifra-puntos"/>
          <p:cNvSpPr/>
          <p:nvPr/>
        </p:nvSpPr>
        <p:spPr>
          <a:xfrm>
            <a:off x="6254496" y="2057400"/>
            <a:ext cx="2487168" cy="178308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8" name="cifra-puntos-cifra"/>
          <p:cNvSpPr txBox="1"/>
          <p:nvPr/>
        </p:nvSpPr>
        <p:spPr>
          <a:xfrm>
            <a:off x="6455664" y="221284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49/57</a:t>
            </a:r>
            <a:endParaRPr lang="en-US" sz="3800" dirty="0"/>
          </a:p>
        </p:txBody>
      </p:sp>
      <p:sp>
        <p:nvSpPr>
          <p:cNvPr id="19" name="cifra-puntos-rotulo"/>
          <p:cNvSpPr txBox="1"/>
          <p:nvPr/>
        </p:nvSpPr>
        <p:spPr>
          <a:xfrm>
            <a:off x="6455664" y="292608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Puntos entregados</a:t>
            </a:r>
            <a:endParaRPr lang="en-US" sz="1300" dirty="0"/>
          </a:p>
        </p:txBody>
      </p:sp>
      <p:sp>
        <p:nvSpPr>
          <p:cNvPr id="20" name="cifra-puntos-nota"/>
          <p:cNvSpPr txBox="1"/>
          <p:nvPr/>
        </p:nvSpPr>
        <p:spPr>
          <a:xfrm>
            <a:off x="6455664" y="32004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5 de 6 elementos completos</a:t>
            </a:r>
            <a:endParaRPr lang="en-US" sz="1150" dirty="0"/>
          </a:p>
        </p:txBody>
      </p:sp>
      <p:sp>
        <p:nvSpPr>
          <p:cNvPr id="21" name="cifra-commits"/>
          <p:cNvSpPr/>
          <p:nvPr/>
        </p:nvSpPr>
        <p:spPr>
          <a:xfrm>
            <a:off x="9061704" y="2057400"/>
            <a:ext cx="2487168" cy="178308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22" name="cifra-commits-cifra"/>
          <p:cNvSpPr txBox="1"/>
          <p:nvPr/>
        </p:nvSpPr>
        <p:spPr>
          <a:xfrm>
            <a:off x="9262872" y="221284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3800" dirty="0"/>
          </a:p>
        </p:txBody>
      </p:sp>
      <p:sp>
        <p:nvSpPr>
          <p:cNvPr id="23" name="cifra-commits-rotulo"/>
          <p:cNvSpPr txBox="1"/>
          <p:nvPr/>
        </p:nvSpPr>
        <p:spPr>
          <a:xfrm>
            <a:off x="9262872" y="292608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Confirmaciones</a:t>
            </a:r>
            <a:endParaRPr lang="en-US" sz="1300" dirty="0"/>
          </a:p>
        </p:txBody>
      </p:sp>
      <p:sp>
        <p:nvSpPr>
          <p:cNvPr id="24" name="cifra-commits-nota"/>
          <p:cNvSpPr txBox="1"/>
          <p:nvPr/>
        </p:nvSpPr>
        <p:spPr>
          <a:xfrm>
            <a:off x="9262872" y="32004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del 19‑sep al 3‑oct, trazables</a:t>
            </a:r>
            <a:endParaRPr lang="en-US" sz="1150" dirty="0"/>
          </a:p>
        </p:txBody>
      </p:sp>
      <p:sp>
        <p:nvSpPr>
          <p:cNvPr id="25" name="nota-holgura"/>
          <p:cNvSpPr/>
          <p:nvPr/>
        </p:nvSpPr>
        <p:spPr>
          <a:xfrm>
            <a:off x="640080" y="4160520"/>
            <a:ext cx="10908792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26" name="nota-holgura-texto"/>
          <p:cNvSpPr txBox="1"/>
          <p:nvPr/>
        </p:nvSpPr>
        <p:spPr>
          <a:xfrm>
            <a:off x="914400" y="429768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15 tareas fuera del compromiso, 17.0 h de 18 h de holgura.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Casi todas nacieron de verificar contra archivos reales o de revisiones cruzadas, no de ampliar el alcance. Una tarea pasó al siguiente sprint: la carga de tomas de reefer por celda y por rangos (T‑56).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inferir el buque a conocerlo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elementos comprometidos, descritos por el valor que aportan al planificador.</a:t>
            </a:r>
            <a:endParaRPr lang="en-US" sz="1400" dirty="0"/>
          </a:p>
        </p:txBody>
      </p:sp>
      <p:sp>
        <p:nvSpPr>
          <p:cNvPr id="4" name="motivo-punto-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motivo-punto-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otivo-punto-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motivo-punto-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motivo-punto-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elemento-1"/>
          <p:cNvSpPr/>
          <p:nvPr/>
        </p:nvSpPr>
        <p:spPr>
          <a:xfrm>
            <a:off x="640080" y="2011680"/>
            <a:ext cx="3483864" cy="201168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0" name="elemento-1-id"/>
          <p:cNvSpPr txBox="1"/>
          <p:nvPr/>
        </p:nvSpPr>
        <p:spPr>
          <a:xfrm>
            <a:off x="82296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RF‑036 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21 pts</a:t>
            </a:r>
            <a:endParaRPr lang="en-US" sz="1100" dirty="0"/>
          </a:p>
        </p:txBody>
      </p:sp>
      <p:sp>
        <p:nvSpPr>
          <p:cNvPr id="11" name="elemento-1-estado-fondo"/>
          <p:cNvSpPr/>
          <p:nvPr/>
        </p:nvSpPr>
        <p:spPr>
          <a:xfrm>
            <a:off x="2980944" y="2130552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12" name="elemento-1-estado"/>
          <p:cNvSpPr txBox="1"/>
          <p:nvPr/>
        </p:nvSpPr>
        <p:spPr>
          <a:xfrm>
            <a:off x="2980944" y="213055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Terminado</a:t>
            </a:r>
            <a:endParaRPr lang="en-US" sz="1050" dirty="0"/>
          </a:p>
        </p:txBody>
      </p:sp>
      <p:sp>
        <p:nvSpPr>
          <p:cNvPr id="13" name="elemento-1-nombre"/>
          <p:cNvSpPr txBox="1"/>
          <p:nvPr/>
        </p:nvSpPr>
        <p:spPr>
          <a:xfrm>
            <a:off x="822960" y="248716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Perfil de buque persistente</a:t>
            </a:r>
            <a:endParaRPr lang="en-US" sz="1400" dirty="0"/>
          </a:p>
        </p:txBody>
      </p:sp>
      <p:sp>
        <p:nvSpPr>
          <p:cNvPr id="14" name="elemento-1-valor"/>
          <p:cNvSpPr txBox="1"/>
          <p:nvPr/>
        </p:nvSpPr>
        <p:spPr>
          <a:xfrm>
            <a:off x="822960" y="288036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El buque se declara una vez —geometría, fila 00, límite de apilamiento y tomas de reefer— y se recuerda en cada escala.</a:t>
            </a:r>
            <a:endParaRPr lang="en-US" sz="1250" dirty="0"/>
          </a:p>
        </p:txBody>
      </p:sp>
      <p:sp>
        <p:nvSpPr>
          <p:cNvPr id="15" name="elemento-2"/>
          <p:cNvSpPr/>
          <p:nvPr/>
        </p:nvSpPr>
        <p:spPr>
          <a:xfrm>
            <a:off x="4352544" y="2011680"/>
            <a:ext cx="3483864" cy="201168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6" name="elemento-2-id"/>
          <p:cNvSpPr txBox="1"/>
          <p:nvPr/>
        </p:nvSpPr>
        <p:spPr>
          <a:xfrm>
            <a:off x="4535424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RF‑031+ 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 pts</a:t>
            </a:r>
            <a:endParaRPr lang="en-US" sz="1100" dirty="0"/>
          </a:p>
        </p:txBody>
      </p:sp>
      <p:sp>
        <p:nvSpPr>
          <p:cNvPr id="17" name="elemento-2-estado-fondo"/>
          <p:cNvSpPr/>
          <p:nvPr/>
        </p:nvSpPr>
        <p:spPr>
          <a:xfrm>
            <a:off x="6693408" y="2130552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18" name="elemento-2-estado"/>
          <p:cNvSpPr txBox="1"/>
          <p:nvPr/>
        </p:nvSpPr>
        <p:spPr>
          <a:xfrm>
            <a:off x="6693408" y="213055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Terminado</a:t>
            </a:r>
            <a:endParaRPr lang="en-US" sz="1050" dirty="0"/>
          </a:p>
        </p:txBody>
      </p:sp>
      <p:sp>
        <p:nvSpPr>
          <p:cNvPr id="19" name="elemento-2-nombre"/>
          <p:cNvSpPr txBox="1"/>
          <p:nvPr/>
        </p:nvSpPr>
        <p:spPr>
          <a:xfrm>
            <a:off x="4535424" y="248716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Almacén local propio</a:t>
            </a:r>
            <a:endParaRPr lang="en-US" sz="1400" dirty="0"/>
          </a:p>
        </p:txBody>
      </p:sp>
      <p:sp>
        <p:nvSpPr>
          <p:cNvPr id="20" name="elemento-2-valor"/>
          <p:cNvSpPr txBox="1"/>
          <p:nvPr/>
        </p:nvSpPr>
        <p:spPr>
          <a:xfrm>
            <a:off x="4535424" y="288036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Viajes recientes y perfiles en el dispositivo; en Windows y Android se reabren sin conexión.</a:t>
            </a:r>
            <a:endParaRPr lang="en-US" sz="1250" dirty="0"/>
          </a:p>
        </p:txBody>
      </p:sp>
      <p:sp>
        <p:nvSpPr>
          <p:cNvPr id="21" name="elemento-3"/>
          <p:cNvSpPr/>
          <p:nvPr/>
        </p:nvSpPr>
        <p:spPr>
          <a:xfrm>
            <a:off x="8065008" y="2011680"/>
            <a:ext cx="3483864" cy="201168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22" name="elemento-3-id"/>
          <p:cNvSpPr txBox="1"/>
          <p:nvPr/>
        </p:nvSpPr>
        <p:spPr>
          <a:xfrm>
            <a:off x="8247888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RF‑027 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13 pts</a:t>
            </a:r>
            <a:endParaRPr lang="en-US" sz="1100" dirty="0"/>
          </a:p>
        </p:txBody>
      </p:sp>
      <p:sp>
        <p:nvSpPr>
          <p:cNvPr id="23" name="elemento-3-estado-fondo"/>
          <p:cNvSpPr/>
          <p:nvPr/>
        </p:nvSpPr>
        <p:spPr>
          <a:xfrm>
            <a:off x="10405872" y="2130552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24" name="elemento-3-estado"/>
          <p:cNvSpPr txBox="1"/>
          <p:nvPr/>
        </p:nvSpPr>
        <p:spPr>
          <a:xfrm>
            <a:off x="10405872" y="213055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Terminado</a:t>
            </a:r>
            <a:endParaRPr lang="en-US" sz="1050" dirty="0"/>
          </a:p>
        </p:txBody>
      </p:sp>
      <p:sp>
        <p:nvSpPr>
          <p:cNvPr id="25" name="elemento-3-nombre"/>
          <p:cNvSpPr txBox="1"/>
          <p:nvPr/>
        </p:nvSpPr>
        <p:spPr>
          <a:xfrm>
            <a:off x="8247888" y="248716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Validación de reglas de estiba</a:t>
            </a:r>
            <a:endParaRPr lang="en-US" sz="1400" dirty="0"/>
          </a:p>
        </p:txBody>
      </p:sp>
      <p:sp>
        <p:nvSpPr>
          <p:cNvPr id="26" name="elemento-3-valor"/>
          <p:cNvSpPr txBox="1"/>
          <p:nvPr/>
        </p:nvSpPr>
        <p:spPr>
          <a:xfrm>
            <a:off x="8247888" y="288036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Peso por pila, refrigerado sin toma, 20 sobre 40 y segregación de peligrosas, con fuente y salto al plano.</a:t>
            </a:r>
            <a:endParaRPr lang="en-US" sz="1250" dirty="0"/>
          </a:p>
        </p:txBody>
      </p:sp>
      <p:sp>
        <p:nvSpPr>
          <p:cNvPr id="27" name="elemento-4"/>
          <p:cNvSpPr/>
          <p:nvPr/>
        </p:nvSpPr>
        <p:spPr>
          <a:xfrm>
            <a:off x="640080" y="4251960"/>
            <a:ext cx="3483864" cy="201168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28" name="elemento-4-id"/>
          <p:cNvSpPr txBox="1"/>
          <p:nvPr/>
        </p:nvSpPr>
        <p:spPr>
          <a:xfrm>
            <a:off x="82296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TC‑01 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 pts</a:t>
            </a:r>
            <a:endParaRPr lang="en-US" sz="1100" dirty="0"/>
          </a:p>
        </p:txBody>
      </p:sp>
      <p:sp>
        <p:nvSpPr>
          <p:cNvPr id="29" name="elemento-4-estado-fondo"/>
          <p:cNvSpPr/>
          <p:nvPr/>
        </p:nvSpPr>
        <p:spPr>
          <a:xfrm>
            <a:off x="2980944" y="4370832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30" name="elemento-4-estado"/>
          <p:cNvSpPr txBox="1"/>
          <p:nvPr/>
        </p:nvSpPr>
        <p:spPr>
          <a:xfrm>
            <a:off x="2980944" y="43708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Terminado</a:t>
            </a:r>
            <a:endParaRPr lang="en-US" sz="1050" dirty="0"/>
          </a:p>
        </p:txBody>
      </p:sp>
      <p:sp>
        <p:nvSpPr>
          <p:cNvPr id="31" name="elemento-4-nombre"/>
          <p:cNvSpPr txBox="1"/>
          <p:nvPr/>
        </p:nvSpPr>
        <p:spPr>
          <a:xfrm>
            <a:off x="822960" y="472744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Revisión de calidad</a:t>
            </a:r>
            <a:endParaRPr lang="en-US" sz="1400" dirty="0"/>
          </a:p>
        </p:txBody>
      </p:sp>
      <p:sp>
        <p:nvSpPr>
          <p:cNvPr id="32" name="elemento-4-valor"/>
          <p:cNvSpPr txBox="1"/>
          <p:nvPr/>
        </p:nvSpPr>
        <p:spPr>
          <a:xfrm>
            <a:off x="822960" y="512064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Análisis estático en cero y los ocho requerimientos no funcionales medidos dos veces.</a:t>
            </a:r>
            <a:endParaRPr lang="en-US" sz="1250" dirty="0"/>
          </a:p>
        </p:txBody>
      </p:sp>
      <p:sp>
        <p:nvSpPr>
          <p:cNvPr id="33" name="elemento-5"/>
          <p:cNvSpPr/>
          <p:nvPr/>
        </p:nvSpPr>
        <p:spPr>
          <a:xfrm>
            <a:off x="4352544" y="4251960"/>
            <a:ext cx="3483864" cy="201168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34" name="elemento-5-id"/>
          <p:cNvSpPr txBox="1"/>
          <p:nvPr/>
        </p:nvSpPr>
        <p:spPr>
          <a:xfrm>
            <a:off x="4535424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TC‑03 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 pts</a:t>
            </a:r>
            <a:endParaRPr lang="en-US" sz="1100" dirty="0"/>
          </a:p>
        </p:txBody>
      </p:sp>
      <p:sp>
        <p:nvSpPr>
          <p:cNvPr id="35" name="elemento-5-estado-fondo"/>
          <p:cNvSpPr/>
          <p:nvPr/>
        </p:nvSpPr>
        <p:spPr>
          <a:xfrm>
            <a:off x="6693408" y="4370832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36" name="elemento-5-estado"/>
          <p:cNvSpPr txBox="1"/>
          <p:nvPr/>
        </p:nvSpPr>
        <p:spPr>
          <a:xfrm>
            <a:off x="6693408" y="43708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Terminado</a:t>
            </a:r>
            <a:endParaRPr lang="en-US" sz="1050" dirty="0"/>
          </a:p>
        </p:txBody>
      </p:sp>
      <p:sp>
        <p:nvSpPr>
          <p:cNvPr id="37" name="elemento-5-nombre"/>
          <p:cNvSpPr txBox="1"/>
          <p:nvPr/>
        </p:nvSpPr>
        <p:spPr>
          <a:xfrm>
            <a:off x="4535424" y="472744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Pruebas finales de seguridad</a:t>
            </a:r>
            <a:endParaRPr lang="en-US" sz="1400" dirty="0"/>
          </a:p>
        </p:txBody>
      </p:sp>
      <p:sp>
        <p:nvSpPr>
          <p:cNvPr id="38" name="elemento-5-valor"/>
          <p:cNvSpPr txBox="1"/>
          <p:nvPr/>
        </p:nvSpPr>
        <p:spPr>
          <a:xfrm>
            <a:off x="4535424" y="512064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Reglas verificadas en uso real, dependencias sin vulnerabilidades conocidas, registro de accesos.</a:t>
            </a:r>
            <a:endParaRPr lang="en-US" sz="1250" dirty="0"/>
          </a:p>
        </p:txBody>
      </p:sp>
      <p:sp>
        <p:nvSpPr>
          <p:cNvPr id="39" name="elemento-6"/>
          <p:cNvSpPr/>
          <p:nvPr/>
        </p:nvSpPr>
        <p:spPr>
          <a:xfrm>
            <a:off x="8065008" y="4251960"/>
            <a:ext cx="3483864" cy="201168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40" name="elemento-6-id"/>
          <p:cNvSpPr txBox="1"/>
          <p:nvPr/>
        </p:nvSpPr>
        <p:spPr>
          <a:xfrm>
            <a:off x="8247888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TC‑04 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 pts</a:t>
            </a:r>
            <a:endParaRPr lang="en-US" sz="1100" dirty="0"/>
          </a:p>
        </p:txBody>
      </p:sp>
      <p:sp>
        <p:nvSpPr>
          <p:cNvPr id="41" name="elemento-6-estado-fondo"/>
          <p:cNvSpPr/>
          <p:nvPr/>
        </p:nvSpPr>
        <p:spPr>
          <a:xfrm>
            <a:off x="10405872" y="4370832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42" name="elemento-6-estado"/>
          <p:cNvSpPr txBox="1"/>
          <p:nvPr/>
        </p:nvSpPr>
        <p:spPr>
          <a:xfrm>
            <a:off x="10405872" y="43708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En curso</a:t>
            </a:r>
            <a:endParaRPr lang="en-US" sz="1050" dirty="0"/>
          </a:p>
        </p:txBody>
      </p:sp>
      <p:sp>
        <p:nvSpPr>
          <p:cNvPr id="43" name="elemento-6-nombre"/>
          <p:cNvSpPr txBox="1"/>
          <p:nvPr/>
        </p:nvSpPr>
        <p:spPr>
          <a:xfrm>
            <a:off x="8247888" y="472744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Despliegue</a:t>
            </a:r>
            <a:endParaRPr lang="en-US" sz="1400" dirty="0"/>
          </a:p>
        </p:txBody>
      </p:sp>
      <p:sp>
        <p:nvSpPr>
          <p:cNvPr id="44" name="elemento-6-valor"/>
          <p:cNvSpPr txBox="1"/>
          <p:nvPr/>
        </p:nvSpPr>
        <p:spPr>
          <a:xfrm>
            <a:off x="8247888" y="512064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Proyecto de producción, Web publicada y app en la prueba interna de Google Play; falta instalarla desde la tienda.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preventiva con tres estados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regla sin datos suficientes no se presenta como conforme: se declara «no evaluada» y dice por qué.</a:t>
            </a:r>
            <a:endParaRPr lang="en-US" sz="1400" dirty="0"/>
          </a:p>
        </p:txBody>
      </p:sp>
      <p:sp>
        <p:nvSpPr>
          <p:cNvPr id="4" name="motivo-punto-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motivo-punto-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otivo-punto-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motivo-punto-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motivo-punto-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graphicFrame>
        <p:nvGraphicFramePr>
          <p:cNvPr id="5" name="tabla-validacion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6492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2468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Validación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Dato que usa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Comportamiento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2A"/>
                          </a:solidFill>
                        </a:rPr>
                        <a:t>Peso por pila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A"/>
                          </a:solidFill>
                        </a:rPr>
                        <a:t>Límite declarado en el perfil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A"/>
                          </a:solidFill>
                        </a:rPr>
                        <a:t>Sin límite declarado, ninguna alerta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2A"/>
                          </a:solidFill>
                        </a:rPr>
                        <a:t>Refrigerado sin toma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A"/>
                          </a:solidFill>
                        </a:rPr>
                        <a:t>Tomas declaradas o propuestas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A"/>
                          </a:solidFill>
                        </a:rPr>
                        <a:t>Error si son declaradas; aviso si son propuestas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2A"/>
                          </a:solidFill>
                        </a:rPr>
                        <a:t>20 pies sobre 40 pies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A"/>
                          </a:solidFill>
                        </a:rPr>
                        <a:t>Geometría y estiba del archivo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A"/>
                          </a:solidFill>
                        </a:rPr>
                        <a:t>Cero casos en el corpus; positivos en pruebas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2A"/>
                          </a:solidFill>
                        </a:rPr>
                        <a:t>Segregación de peligrosas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A"/>
                          </a:solidFill>
                        </a:rPr>
                        <a:t>Segmentos DGS y 49 CFR §176.83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A"/>
                          </a:solidFill>
                        </a:rPr>
                        <a:t>Por número ONU, con la fuente en cada alerta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orpus-alfa"/>
          <p:cNvSpPr/>
          <p:nvPr/>
        </p:nvSpPr>
        <p:spPr>
          <a:xfrm>
            <a:off x="7452360" y="2011680"/>
            <a:ext cx="4096512" cy="160020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1" name="alfa-rotulo"/>
          <p:cNvSpPr txBox="1"/>
          <p:nvPr/>
        </p:nvSpPr>
        <p:spPr>
          <a:xfrm>
            <a:off x="7680960" y="213055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BUQUE ALFA · CORPUS_A01</a:t>
            </a:r>
            <a:endParaRPr lang="en-US" sz="1200" dirty="0"/>
          </a:p>
        </p:txBody>
      </p:sp>
      <p:sp>
        <p:nvSpPr>
          <p:cNvPr id="12" name="alfa-cifra"/>
          <p:cNvSpPr txBox="1"/>
          <p:nvPr/>
        </p:nvSpPr>
        <p:spPr>
          <a:xfrm>
            <a:off x="7680960" y="242316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0 / 6</a:t>
            </a:r>
            <a:endParaRPr lang="en-US" sz="3600" dirty="0"/>
          </a:p>
        </p:txBody>
      </p:sp>
      <p:sp>
        <p:nvSpPr>
          <p:cNvPr id="13" name="alfa-nota"/>
          <p:cNvSpPr txBox="1"/>
          <p:nvPr/>
        </p:nvSpPr>
        <p:spPr>
          <a:xfrm>
            <a:off x="7680960" y="3090672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Ninguna alerta sin explicar en los tres clientes</a:t>
            </a:r>
            <a:endParaRPr lang="en-US" sz="1150" dirty="0"/>
          </a:p>
        </p:txBody>
      </p:sp>
      <p:sp>
        <p:nvSpPr>
          <p:cNvPr id="14" name="corpus-charlie"/>
          <p:cNvSpPr/>
          <p:nvPr/>
        </p:nvSpPr>
        <p:spPr>
          <a:xfrm>
            <a:off x="7452360" y="3794760"/>
            <a:ext cx="4096512" cy="160020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5" name="charlie-rotulo"/>
          <p:cNvSpPr txBox="1"/>
          <p:nvPr/>
        </p:nvSpPr>
        <p:spPr>
          <a:xfrm>
            <a:off x="7680960" y="391363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BUQUE CHARLIE · CORPUS_A03</a:t>
            </a:r>
            <a:endParaRPr lang="en-US" sz="1200" dirty="0"/>
          </a:p>
        </p:txBody>
      </p:sp>
      <p:sp>
        <p:nvSpPr>
          <p:cNvPr id="16" name="charlie-cifra"/>
          <p:cNvSpPr txBox="1"/>
          <p:nvPr/>
        </p:nvSpPr>
        <p:spPr>
          <a:xfrm>
            <a:off x="7680960" y="420624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100 / 151</a:t>
            </a:r>
            <a:endParaRPr lang="en-US" sz="3600" dirty="0"/>
          </a:p>
        </p:txBody>
      </p:sp>
      <p:sp>
        <p:nvSpPr>
          <p:cNvPr id="17" name="charlie-nota"/>
          <p:cNvSpPr txBox="1"/>
          <p:nvPr/>
        </p:nvSpPr>
        <p:spPr>
          <a:xfrm>
            <a:off x="7680960" y="4873752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Los 2 posibles incumplimientos, juzgados válidos por el autor</a:t>
            </a:r>
            <a:endParaRPr lang="en-US" sz="1150" dirty="0"/>
          </a:p>
        </p:txBody>
      </p:sp>
      <p:sp>
        <p:nvSpPr>
          <p:cNvPr id="18" name="leyenda-estados"/>
          <p:cNvSpPr txBox="1"/>
          <p:nvPr/>
        </p:nvSpPr>
        <p:spPr>
          <a:xfrm>
            <a:off x="640080" y="43434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Posibles incumplimientos / no evaluados / conformes, en Windows, Android y la Web.</a:t>
            </a:r>
            <a:endParaRPr lang="en-US" sz="1200" dirty="0"/>
          </a:p>
        </p:txBody>
      </p:sp>
      <p:sp>
        <p:nvSpPr>
          <p:cNvPr id="19" name="nota-aceptacion"/>
          <p:cNvSpPr/>
          <p:nvPr/>
        </p:nvSpPr>
        <p:spPr>
          <a:xfrm>
            <a:off x="640080" y="4800600"/>
            <a:ext cx="6492240" cy="1051560"/>
          </a:xfrm>
          <a:prstGeom prst="rect">
            <a:avLst/>
          </a:prstGeom>
          <a:solidFill>
            <a:schemeClr val="bg1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20" name="nota-aceptacion-texto"/>
          <p:cNvSpPr txBox="1"/>
          <p:nvPr/>
        </p:nvSpPr>
        <p:spPr>
          <a:xfrm>
            <a:off x="914400" y="49377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Aceptada por quien no la escribió.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El otro programador aceptó el panel en los tres clientes, sobre binarios identificados por su resumen.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tarjeta al repositorio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comprometida termina en una confirmación verificable. No se afirma que exista: se señala dónde está.</a:t>
            </a:r>
            <a:endParaRPr lang="en-US" sz="1400" dirty="0"/>
          </a:p>
        </p:txBody>
      </p:sp>
      <p:sp>
        <p:nvSpPr>
          <p:cNvPr id="4" name="motivo-punto-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motivo-punto-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otivo-punto-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motivo-punto-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motivo-punto-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graphicFrame>
        <p:nvGraphicFramePr>
          <p:cNvPr id="6" name="tabla-trazabilid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0879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062472"/>
                <a:gridCol w="173736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Confirmación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Contenido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Tareas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Elemento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a0edffa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Identificar buques y serializar perfiles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T‑24, T‑25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RF‑036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55fe8f5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Parametrizar zonas y recordar perfiles entre viajes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T‑26 … T‑28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RF‑036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b28e7d2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Clonar plantillas y editar perfiles persistentes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T‑32 … T‑34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RF‑036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411ee7c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Conservar cinco viajes y reabrirlos sin conexión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T‑37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RF‑031+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ea6daad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Segregación por número ONU con 49 CFR y tres estados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T‑41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RF‑027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3318da4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Alertas por severidad con salto a su posición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T‑42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RF‑027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5c024eb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Análisis estático en cero, seis dependencias retiradas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T‑43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TC‑01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8f0d39d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Publicar las reglas sin identidad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T‑45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TC‑03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ba7353a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Firebase de producción, opciones fuera del código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T‑47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TC‑04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080d589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Hosting y verificación de la Web publicada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T‑48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TC‑04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nota-trazabilidad"/>
          <p:cNvSpPr txBox="1"/>
          <p:nvPr/>
        </p:nvSpPr>
        <p:spPr>
          <a:xfrm>
            <a:off x="640080" y="58978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Selección de 10 de 19. La tabla completa está en el documento (Tabla 83). Historial verificado el 3‑oct‑2026.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del incremento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contra la Definición de Terminado fijada al abrir el sprint.</a:t>
            </a:r>
            <a:endParaRPr lang="en-US" sz="1400" dirty="0"/>
          </a:p>
        </p:txBody>
      </p:sp>
      <p:sp>
        <p:nvSpPr>
          <p:cNvPr id="4" name="motivo-punto-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motivo-punto-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otivo-punto-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motivo-punto-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motivo-punto-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graphicFrame>
        <p:nvGraphicFramePr>
          <p:cNvPr id="9" name="grafica-pruebas" descr=""/>
          <p:cNvGraphicFramePr/>
          <p:nvPr/>
        </p:nvGraphicFramePr>
        <p:xfrm>
          <a:off x="640080" y="196596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calidad-1-cifra"/>
          <p:cNvSpPr txBox="1"/>
          <p:nvPr/>
        </p:nvSpPr>
        <p:spPr>
          <a:xfrm>
            <a:off x="6675120" y="19659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→ 0</a:t>
            </a:r>
            <a:endParaRPr lang="en-US" sz="2600" dirty="0"/>
          </a:p>
        </p:txBody>
      </p:sp>
      <p:sp>
        <p:nvSpPr>
          <p:cNvPr id="11" name="calidad-1-texto"/>
          <p:cNvSpPr txBox="1"/>
          <p:nvPr/>
        </p:nvSpPr>
        <p:spPr>
          <a:xfrm>
            <a:off x="8366760" y="196596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Incidencias del análisis estático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Sin una sola directiva de supresión</a:t>
            </a:r>
            <a:endParaRPr lang="en-US" sz="1300" dirty="0"/>
          </a:p>
        </p:txBody>
      </p:sp>
      <p:sp>
        <p:nvSpPr>
          <p:cNvPr id="12" name="calidad-2-cifra"/>
          <p:cNvSpPr txBox="1"/>
          <p:nvPr/>
        </p:nvSpPr>
        <p:spPr>
          <a:xfrm>
            <a:off x="6675120" y="28803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 → 96</a:t>
            </a:r>
            <a:endParaRPr lang="en-US" sz="2600" dirty="0"/>
          </a:p>
        </p:txBody>
      </p:sp>
      <p:sp>
        <p:nvSpPr>
          <p:cNvPr id="13" name="calidad-2-texto"/>
          <p:cNvSpPr txBox="1"/>
          <p:nvPr/>
        </p:nvSpPr>
        <p:spPr>
          <a:xfrm>
            <a:off x="8366760" y="288036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Paquetes resueltos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Seis dependencias sin uso retiradas; ninguna versión cambió</a:t>
            </a:r>
            <a:endParaRPr lang="en-US" sz="1300" dirty="0"/>
          </a:p>
        </p:txBody>
      </p:sp>
      <p:sp>
        <p:nvSpPr>
          <p:cNvPr id="14" name="calidad-3-cifra"/>
          <p:cNvSpPr txBox="1"/>
          <p:nvPr/>
        </p:nvSpPr>
        <p:spPr>
          <a:xfrm>
            <a:off x="6675120" y="3794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calidad-3-texto"/>
          <p:cNvSpPr txBox="1"/>
          <p:nvPr/>
        </p:nvSpPr>
        <p:spPr>
          <a:xfrm>
            <a:off x="8366760" y="379476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Dependencia añadida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El motor de almacenamiento local</a:t>
            </a:r>
            <a:endParaRPr lang="en-US" sz="1300" dirty="0"/>
          </a:p>
        </p:txBody>
      </p:sp>
      <p:sp>
        <p:nvSpPr>
          <p:cNvPr id="16" name="calidad-4-cifra"/>
          <p:cNvSpPr txBox="1"/>
          <p:nvPr/>
        </p:nvSpPr>
        <p:spPr>
          <a:xfrm>
            <a:off x="6675120" y="47091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Parcial</a:t>
            </a:r>
            <a:endParaRPr lang="en-US" sz="2600" dirty="0"/>
          </a:p>
        </p:txBody>
      </p:sp>
      <p:sp>
        <p:nvSpPr>
          <p:cNvPr id="17" name="calidad-4-texto"/>
          <p:cNvSpPr txBox="1"/>
          <p:nvPr/>
        </p:nvSpPr>
        <p:spPr>
          <a:xfrm>
            <a:off x="8366760" y="470916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Funciona sin conexión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Windows y Android sí; la Web necesita red para arrancar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no funcionales: medidos dos veces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queda aprobado tal como está escrito. Tres no se cumplen; cinco no se pueden medir con su redacción.</a:t>
            </a:r>
            <a:endParaRPr lang="en-US" sz="1400" dirty="0"/>
          </a:p>
        </p:txBody>
      </p:sp>
      <p:sp>
        <p:nvSpPr>
          <p:cNvPr id="4" name="motivo-punto-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motivo-punto-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otivo-punto-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motivo-punto-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motivo-punto-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graphicFrame>
        <p:nvGraphicFramePr>
          <p:cNvPr id="8" name="tabla-rn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694944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3657600"/>
                <a:gridCol w="12344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RNF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Cifra de los binarios finales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Dictamen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001 Rendimiento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Windows: 417–422 MB maximizada; 199–209 MB a 1280×720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480F"/>
                          </a:solidFill>
                        </a:rPr>
                        <a:t>No cumple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002 Usabilidad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5 o 6 pasos sin perfil; 3 con perfil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480F"/>
                          </a:solidFill>
                        </a:rPr>
                        <a:t>No cumple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003 Portabilidad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Tres clientes y siete archivos; cortes a 360 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E6B75"/>
                          </a:solidFill>
                        </a:rPr>
                        <a:t>No medible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004 Seguridad de los datos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Cero peticiones a Firestore y cero conexiones en lo probado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E6B75"/>
                          </a:solidFill>
                        </a:rPr>
                        <a:t>No medible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005 Mantenibilidad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Cero incidencias; 282 pruebas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E6B75"/>
                          </a:solidFill>
                        </a:rPr>
                        <a:t>No medible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006 Tolerancia a fallos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Causa y acción en el mensaje; recuperación sin reiniciar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E6B75"/>
                          </a:solidFill>
                        </a:rPr>
                        <a:t>No medible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007 Escalabilidad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Hasta 979 contenedores; no hay archivos de 10 000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E6B75"/>
                          </a:solidFill>
                        </a:rPr>
                        <a:t>No medible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008 Estándares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Segregación con 49 CFR, sin el Código IMDG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480F"/>
                          </a:solidFill>
                        </a:rPr>
                        <a:t>No cumple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nota-ers"/>
          <p:cNvSpPr/>
          <p:nvPr/>
        </p:nvSpPr>
        <p:spPr>
          <a:xfrm>
            <a:off x="7863840" y="1965960"/>
            <a:ext cx="3685032" cy="1828800"/>
          </a:xfrm>
          <a:prstGeom prst="rect">
            <a:avLst/>
          </a:prstGeom>
          <a:solidFill>
            <a:schemeClr val="bg1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1" name="nota-ers-texto"/>
          <p:cNvSpPr txBox="1"/>
          <p:nvPr/>
        </p:nvSpPr>
        <p:spPr>
          <a:xfrm>
            <a:off x="8138160" y="2103120"/>
            <a:ext cx="3136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El hallazgo está en el ERS.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Los requerimientos se redactaron antes de existir la forma de medirlos: les falta métrica, condición o denominador.</a:t>
            </a:r>
            <a:endParaRPr lang="en-US" sz="1500" dirty="0"/>
          </a:p>
        </p:txBody>
      </p:sp>
      <p:sp>
        <p:nvSpPr>
          <p:cNvPr id="12" name="nota-criterios"/>
          <p:cNvSpPr/>
          <p:nvPr/>
        </p:nvSpPr>
        <p:spPr>
          <a:xfrm>
            <a:off x="7863840" y="3977640"/>
            <a:ext cx="3685032" cy="1783080"/>
          </a:xfrm>
          <a:prstGeom prst="rect">
            <a:avLst/>
          </a:prstGeom>
          <a:solidFill>
            <a:schemeClr val="tx1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3" name="nota-criterios-texto"/>
          <p:cNvSpPr txBox="1"/>
          <p:nvPr/>
        </p:nvSpPr>
        <p:spPr>
          <a:xfrm>
            <a:off x="8138160" y="4114800"/>
            <a:ext cx="31363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22 decisiones, unas 57 h.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D6D2CB"/>
                </a:solidFill>
              </a:rPr>
              <a:t>La propuesta de criterios conserva los umbrales y no convierte ningún «no cumple» en «cumple». Medirla excede un sprint.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hallazgos, todos con tratamiento y evidencia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al cierre del Sprint 2 de la línea base evaluada contra OWASP Top 10:2025 y Mobile Top 10 2024.</a:t>
            </a:r>
            <a:endParaRPr lang="en-US" sz="1400" dirty="0"/>
          </a:p>
        </p:txBody>
      </p:sp>
      <p:sp>
        <p:nvSpPr>
          <p:cNvPr id="4" name="motivo-punto-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motivo-punto-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otivo-punto-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motivo-punto-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motivo-punto-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graphicFrame>
        <p:nvGraphicFramePr>
          <p:cNvPr id="9" name="tabla-hallazg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087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291840"/>
                <a:gridCol w="1188720"/>
                <a:gridCol w="56509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Hallazgo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Severidad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Estado al cierre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H‑01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Reglas fuera del control de versiones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Crítica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8F72"/>
                          </a:solidFill>
                        </a:rPr>
                        <a:t>Resuelto y conservado: repositorio idéntico a lo publicado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H‑02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Creación y actualización anónimas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722C"/>
                          </a:solidFill>
                        </a:rPr>
                        <a:t>Reacotado: el producto no usa Firestore; riesgo residual declarado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H‑03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Reglas de prueba expiradas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Crítica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8F72"/>
                          </a:solidFill>
                        </a:rPr>
                        <a:t>Resuelto; producción creada sin base de datos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H‑04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Credenciales en el código fuente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Media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8F72"/>
                          </a:solidFill>
                        </a:rPr>
                        <a:t>Cerrado en el código; las del proyecto temporal siguen en el historial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H‑05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Texto crudo de excepciones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Baja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8F72"/>
                          </a:solidFill>
                        </a:rPr>
                        <a:t>Atendido: causa y acción en español en el caso medido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H‑06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Sin registro de eventos ni alertas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Baja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722C"/>
                          </a:solidFill>
                        </a:rPr>
                        <a:t>Registro verificado; alertas sin facturación: limitación declarada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</a:rPr>
                        <a:t>H‑07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Sin análisis de dependencias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</a:rPr>
                        <a:t>Baja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8F72"/>
                          </a:solidFill>
                        </a:rPr>
                        <a:t>Cerrado: cero vulnerabilidades conocidas, con control positivo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10" name="leyenda-hallazgos"/>
          <p:cNvSpPr txBox="1"/>
          <p:nvPr/>
        </p:nvSpPr>
        <p:spPr>
          <a:xfrm>
            <a:off x="640080" y="55778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Verde: resuelto o cerrado. Naranja: cerrado con riesgo residual o limitación declarados.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producto no transmitió datos del usuario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comprobó observando el tráfico, no leyendo el código, y cada cero lleva su control positivo.</a:t>
            </a:r>
            <a:endParaRPr lang="en-US" sz="1400" dirty="0"/>
          </a:p>
        </p:txBody>
      </p:sp>
      <p:sp>
        <p:nvSpPr>
          <p:cNvPr id="4" name="motivo-punto-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motivo-punto-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otivo-punto-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motivo-punto-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motivo-punto-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rafico-1"/>
          <p:cNvSpPr/>
          <p:nvPr/>
        </p:nvSpPr>
        <p:spPr>
          <a:xfrm>
            <a:off x="640080" y="2103120"/>
            <a:ext cx="5340096" cy="2423160"/>
          </a:xfrm>
          <a:prstGeom prst="rect">
            <a:avLst/>
          </a:prstGeom>
          <a:solidFill>
            <a:srgbClr val="2E4756"/>
          </a:solidFill>
          <a:ln/>
        </p:spPr>
      </p:sp>
      <p:sp>
        <p:nvSpPr>
          <p:cNvPr id="10" name="trafico-1-cliente"/>
          <p:cNvSpPr txBox="1"/>
          <p:nvPr/>
        </p:nvSpPr>
        <p:spPr>
          <a:xfrm>
            <a:off x="914400" y="2286000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A8BC"/>
                </a:solidFill>
              </a:rPr>
              <a:t>Web publicada, en Chrome</a:t>
            </a:r>
            <a:endParaRPr lang="en-US" sz="1250" dirty="0"/>
          </a:p>
        </p:txBody>
      </p:sp>
      <p:sp>
        <p:nvSpPr>
          <p:cNvPr id="11" name="trafico-1-cifra"/>
          <p:cNvSpPr txBox="1"/>
          <p:nvPr/>
        </p:nvSpPr>
        <p:spPr>
          <a:xfrm>
            <a:off x="914400" y="265176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descargas al arrancar</a:t>
            </a:r>
            <a:endParaRPr lang="en-US" sz="2800" dirty="0"/>
          </a:p>
        </p:txBody>
      </p:sp>
      <p:sp>
        <p:nvSpPr>
          <p:cNvPr id="12" name="trafico-1-texto"/>
          <p:cNvSpPr txBox="1"/>
          <p:nvPr/>
        </p:nvSpPr>
        <p:spPr>
          <a:xfrm>
            <a:off x="914400" y="3383280"/>
            <a:ext cx="4791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D2CB"/>
                </a:solidFill>
              </a:rPr>
              <a:t>La propia app, el motor de Flutter, el SDK de Firebase y fuentes. Durante las operaciones, ninguna petición; ninguna a Firestore.</a:t>
            </a:r>
            <a:endParaRPr lang="en-US" sz="1400" dirty="0"/>
          </a:p>
        </p:txBody>
      </p:sp>
      <p:sp>
        <p:nvSpPr>
          <p:cNvPr id="13" name="trafico-2"/>
          <p:cNvSpPr/>
          <p:nvPr/>
        </p:nvSpPr>
        <p:spPr>
          <a:xfrm>
            <a:off x="6208776" y="2103120"/>
            <a:ext cx="5340096" cy="2423160"/>
          </a:xfrm>
          <a:prstGeom prst="rect">
            <a:avLst/>
          </a:prstGeom>
          <a:solidFill>
            <a:srgbClr val="2E4756"/>
          </a:solidFill>
          <a:ln/>
        </p:spPr>
      </p:sp>
      <p:sp>
        <p:nvSpPr>
          <p:cNvPr id="14" name="trafico-2-cliente"/>
          <p:cNvSpPr txBox="1"/>
          <p:nvPr/>
        </p:nvSpPr>
        <p:spPr>
          <a:xfrm>
            <a:off x="6483096" y="2286000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A8BC"/>
                </a:solidFill>
              </a:rPr>
              <a:t>Android, Honor X5d, APK final</a:t>
            </a:r>
            <a:endParaRPr lang="en-US" sz="1250" dirty="0"/>
          </a:p>
        </p:txBody>
      </p:sp>
      <p:sp>
        <p:nvSpPr>
          <p:cNvPr id="15" name="trafico-2-cifra"/>
          <p:cNvSpPr txBox="1"/>
          <p:nvPr/>
        </p:nvSpPr>
        <p:spPr>
          <a:xfrm>
            <a:off x="6483096" y="265176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conexiones · 0 bytes</a:t>
            </a:r>
            <a:endParaRPr lang="en-US" sz="2800" dirty="0"/>
          </a:p>
        </p:txBody>
      </p:sp>
      <p:sp>
        <p:nvSpPr>
          <p:cNvPr id="16" name="trafico-2-texto"/>
          <p:cNvSpPr txBox="1"/>
          <p:nvPr/>
        </p:nvSpPr>
        <p:spPr>
          <a:xfrm>
            <a:off x="6483096" y="3383280"/>
            <a:ext cx="4791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D2CB"/>
                </a:solidFill>
              </a:rPr>
              <a:t>Arranque y siete operaciones con cuatro instrumentos. Los controles positivos sí detectan tráfico real.</a:t>
            </a:r>
            <a:endParaRPr lang="en-US" sz="1400" dirty="0"/>
          </a:p>
        </p:txBody>
      </p:sp>
      <p:sp>
        <p:nvSpPr>
          <p:cNvPr id="17" name="trafico-hallazgo"/>
          <p:cNvSpPr/>
          <p:nvPr/>
        </p:nvSpPr>
        <p:spPr>
          <a:xfrm>
            <a:off x="640080" y="4754880"/>
            <a:ext cx="10908792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rafico-hallazgo-texto"/>
          <p:cNvSpPr txBox="1"/>
          <p:nvPr/>
        </p:nvSpPr>
        <p:spPr>
          <a:xfrm>
            <a:off x="914400" y="48463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A"/>
                </a:solidFill>
              </a:rPr>
              <a:t>Un cero puede no probar nada. </a:t>
            </a:r>
            <a:pPr indent="0" marL="0">
              <a:buNone/>
            </a:pPr>
            <a:r>
              <a:rPr lang="en-US" sz="1250" dirty="0">
                <a:solidFill>
                  <a:srgbClr val="5E6B75"/>
                </a:solidFill>
              </a:rPr>
              <a:t>En segundo plano Android bloquea la red de la app, así que ese tramo no demostraba ausencia de transmisión. Se repitió con la app en primer plano y la red permitida: también cero.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8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Despliegue: dónde está cada cliente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producción creado, credenciales fuera del código e identificador definitivo gt.cmartinez.baystream.</a:t>
            </a:r>
            <a:endParaRPr lang="en-US" sz="1400" dirty="0"/>
          </a:p>
        </p:txBody>
      </p:sp>
      <p:sp>
        <p:nvSpPr>
          <p:cNvPr id="4" name="motivo-punto-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motivo-punto-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otivo-punto-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motivo-punto-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motivo-punto-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cliente-1"/>
          <p:cNvSpPr/>
          <p:nvPr/>
        </p:nvSpPr>
        <p:spPr>
          <a:xfrm>
            <a:off x="640080" y="2011680"/>
            <a:ext cx="3483864" cy="274320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0" name="cliente-1-nombre"/>
          <p:cNvSpPr txBox="1"/>
          <p:nvPr/>
        </p:nvSpPr>
        <p:spPr>
          <a:xfrm>
            <a:off x="86868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2000" dirty="0"/>
          </a:p>
        </p:txBody>
      </p:sp>
      <p:sp>
        <p:nvSpPr>
          <p:cNvPr id="11" name="cliente-1-estado-fondo"/>
          <p:cNvSpPr/>
          <p:nvPr/>
        </p:nvSpPr>
        <p:spPr>
          <a:xfrm>
            <a:off x="2798064" y="2240280"/>
            <a:ext cx="1097280" cy="310896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</p:sp>
      <p:sp>
        <p:nvSpPr>
          <p:cNvPr id="12" name="cliente-1-estado"/>
          <p:cNvSpPr txBox="1"/>
          <p:nvPr/>
        </p:nvSpPr>
        <p:spPr>
          <a:xfrm>
            <a:off x="2798064" y="22402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Publicada</a:t>
            </a:r>
            <a:endParaRPr lang="en-US" sz="1100" dirty="0"/>
          </a:p>
        </p:txBody>
      </p:sp>
      <p:sp>
        <p:nvSpPr>
          <p:cNvPr id="13" name="cliente-1-dato"/>
          <p:cNvSpPr txBox="1"/>
          <p:nvPr/>
        </p:nvSpPr>
        <p:spPr>
          <a:xfrm>
            <a:off x="868680" y="27889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baystream-app.web.app</a:t>
            </a:r>
            <a:endParaRPr lang="en-US" sz="1300" dirty="0"/>
          </a:p>
        </p:txBody>
      </p:sp>
      <p:sp>
        <p:nvSpPr>
          <p:cNvPr id="14" name="cliente-1-texto"/>
          <p:cNvSpPr txBox="1"/>
          <p:nvPr/>
        </p:nvSpPr>
        <p:spPr>
          <a:xfrm>
            <a:off x="868680" y="324612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El archivo publicado es idéntico al medido, y el almacén local sobrevive a la recarga. Requiere conexión para arrancar.</a:t>
            </a:r>
            <a:endParaRPr lang="en-US" sz="1350" dirty="0"/>
          </a:p>
        </p:txBody>
      </p:sp>
      <p:sp>
        <p:nvSpPr>
          <p:cNvPr id="15" name="cliente-2"/>
          <p:cNvSpPr/>
          <p:nvPr/>
        </p:nvSpPr>
        <p:spPr>
          <a:xfrm>
            <a:off x="4352544" y="2011680"/>
            <a:ext cx="3483864" cy="274320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6" name="cliente-2-nombre"/>
          <p:cNvSpPr txBox="1"/>
          <p:nvPr/>
        </p:nvSpPr>
        <p:spPr>
          <a:xfrm>
            <a:off x="4581144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</a:t>
            </a:r>
            <a:endParaRPr lang="en-US" sz="2000" dirty="0"/>
          </a:p>
        </p:txBody>
      </p:sp>
      <p:sp>
        <p:nvSpPr>
          <p:cNvPr id="17" name="cliente-2-estado-fondo"/>
          <p:cNvSpPr/>
          <p:nvPr/>
        </p:nvSpPr>
        <p:spPr>
          <a:xfrm>
            <a:off x="6510528" y="2240280"/>
            <a:ext cx="10972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18" name="cliente-2-estado"/>
          <p:cNvSpPr txBox="1"/>
          <p:nvPr/>
        </p:nvSpPr>
        <p:spPr>
          <a:xfrm>
            <a:off x="6510528" y="22402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Publicado</a:t>
            </a:r>
            <a:endParaRPr lang="en-US" sz="1100" dirty="0"/>
          </a:p>
        </p:txBody>
      </p:sp>
      <p:sp>
        <p:nvSpPr>
          <p:cNvPr id="19" name="cliente-2-dato"/>
          <p:cNvSpPr txBox="1"/>
          <p:nvPr/>
        </p:nvSpPr>
        <p:spPr>
          <a:xfrm>
            <a:off x="4581144" y="27889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Prueba interna de Google Play</a:t>
            </a:r>
            <a:endParaRPr lang="en-US" sz="1300" dirty="0"/>
          </a:p>
        </p:txBody>
      </p:sp>
      <p:sp>
        <p:nvSpPr>
          <p:cNvPr id="20" name="cliente-2-texto"/>
          <p:cNvSpPr txBox="1"/>
          <p:nvPr/>
        </p:nvSpPr>
        <p:spPr>
          <a:xfrm>
            <a:off x="4581144" y="324612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Versión 1 (1.0.0) publicada el 3 de octubre. Falta instalarla en el teléfono desde la tienda.</a:t>
            </a:r>
            <a:endParaRPr lang="en-US" sz="1350" dirty="0"/>
          </a:p>
        </p:txBody>
      </p:sp>
      <p:sp>
        <p:nvSpPr>
          <p:cNvPr id="21" name="cliente-3"/>
          <p:cNvSpPr/>
          <p:nvPr/>
        </p:nvSpPr>
        <p:spPr>
          <a:xfrm>
            <a:off x="8065008" y="2011680"/>
            <a:ext cx="3483864" cy="274320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22" name="cliente-3-nombre"/>
          <p:cNvSpPr txBox="1"/>
          <p:nvPr/>
        </p:nvSpPr>
        <p:spPr>
          <a:xfrm>
            <a:off x="8293608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2000" dirty="0"/>
          </a:p>
        </p:txBody>
      </p:sp>
      <p:sp>
        <p:nvSpPr>
          <p:cNvPr id="23" name="cliente-3-estado-fondo"/>
          <p:cNvSpPr/>
          <p:nvPr/>
        </p:nvSpPr>
        <p:spPr>
          <a:xfrm>
            <a:off x="10222992" y="2240280"/>
            <a:ext cx="1097280" cy="310896"/>
          </a:xfrm>
          <a:prstGeom prst="roundRect">
            <a:avLst>
              <a:gd name="adj" fmla="val 23529"/>
            </a:avLst>
          </a:prstGeom>
          <a:solidFill>
            <a:schemeClr val="tx2"/>
          </a:solidFill>
          <a:ln/>
        </p:spPr>
      </p:sp>
      <p:sp>
        <p:nvSpPr>
          <p:cNvPr id="24" name="cliente-3-estado"/>
          <p:cNvSpPr txBox="1"/>
          <p:nvPr/>
        </p:nvSpPr>
        <p:spPr>
          <a:xfrm>
            <a:off x="10222992" y="22402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Compilado</a:t>
            </a:r>
            <a:endParaRPr lang="en-US" sz="1100" dirty="0"/>
          </a:p>
        </p:txBody>
      </p:sp>
      <p:sp>
        <p:nvSpPr>
          <p:cNvPr id="25" name="cliente-3-dato"/>
          <p:cNvSpPr txBox="1"/>
          <p:nvPr/>
        </p:nvSpPr>
        <p:spPr>
          <a:xfrm>
            <a:off x="8293608" y="27889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Binario de lanzamiento medido</a:t>
            </a:r>
            <a:endParaRPr lang="en-US" sz="1300" dirty="0"/>
          </a:p>
        </p:txBody>
      </p:sp>
      <p:sp>
        <p:nvSpPr>
          <p:cNvPr id="26" name="cliente-3-texto"/>
          <p:cNvSpPr txBox="1"/>
          <p:nvPr/>
        </p:nvSpPr>
        <p:spPr>
          <a:xfrm>
            <a:off x="8293608" y="324612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El sprint no comprometía un canal de distribución para Windows.</a:t>
            </a:r>
            <a:endParaRPr lang="en-US" sz="1350" dirty="0"/>
          </a:p>
        </p:txBody>
      </p:sp>
      <p:sp>
        <p:nvSpPr>
          <p:cNvPr id="27" name="nota-play"/>
          <p:cNvSpPr/>
          <p:nvPr/>
        </p:nvSpPr>
        <p:spPr>
          <a:xfrm>
            <a:off x="640080" y="4983480"/>
            <a:ext cx="10908792" cy="914400"/>
          </a:xfrm>
          <a:prstGeom prst="rect">
            <a:avLst/>
          </a:prstGeom>
          <a:solidFill>
            <a:schemeClr val="bg1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28" name="nota-play-texto"/>
          <p:cNvSpPr txBox="1"/>
          <p:nvPr/>
        </p:nvSpPr>
        <p:spPr>
          <a:xfrm>
            <a:off x="914400" y="51206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Por qué la prueba interna y no la tienda pública.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Google exige a las cuentas personales nuevas una prueba cerrada con al menos 12 testers durante 14 días continuos antes de producción. No cabía antes del 17‑oct.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Retrospectiva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conviene conservar, qué no funcionó y qué cambia para el siguiente sprint.</a:t>
            </a:r>
            <a:endParaRPr lang="en-US" sz="1400" dirty="0"/>
          </a:p>
        </p:txBody>
      </p:sp>
      <p:sp>
        <p:nvSpPr>
          <p:cNvPr id="4" name="motivo-punto-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motivo-punto-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otivo-punto-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motivo-punto-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motivo-punto-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retro-1"/>
          <p:cNvSpPr/>
          <p:nvPr/>
        </p:nvSpPr>
        <p:spPr>
          <a:xfrm>
            <a:off x="640080" y="2011680"/>
            <a:ext cx="3483864" cy="324612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0" name="retro-1-marca"/>
          <p:cNvSpPr/>
          <p:nvPr/>
        </p:nvSpPr>
        <p:spPr>
          <a:xfrm>
            <a:off x="868680" y="2258568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retro-1-titulo"/>
          <p:cNvSpPr txBox="1"/>
          <p:nvPr/>
        </p:nvSpPr>
        <p:spPr>
          <a:xfrm>
            <a:off x="1188720" y="2176272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Conservar</a:t>
            </a:r>
            <a:endParaRPr lang="en-US" sz="1800" dirty="0"/>
          </a:p>
        </p:txBody>
      </p:sp>
      <p:sp>
        <p:nvSpPr>
          <p:cNvPr id="12" name="retro-1-lista"/>
          <p:cNvSpPr txBox="1"/>
          <p:nvPr/>
        </p:nvSpPr>
        <p:spPr>
          <a:xfrm>
            <a:off x="822960" y="2697480"/>
            <a:ext cx="31181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Holgura amplia: absorbió 17 h de trabajo no planificado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Identificar cada binario por su resumen SHA‑256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Dos programadores en paralelo, con reglas escritas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La doble prueba: 9 casos en que una segunda revisión encontró un error</a:t>
            </a:r>
            <a:endParaRPr lang="en-US" sz="1350" dirty="0"/>
          </a:p>
        </p:txBody>
      </p:sp>
      <p:sp>
        <p:nvSpPr>
          <p:cNvPr id="13" name="retro-2"/>
          <p:cNvSpPr/>
          <p:nvPr/>
        </p:nvSpPr>
        <p:spPr>
          <a:xfrm>
            <a:off x="4352544" y="2011680"/>
            <a:ext cx="3483864" cy="324612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4" name="retro-2-marca"/>
          <p:cNvSpPr/>
          <p:nvPr/>
        </p:nvSpPr>
        <p:spPr>
          <a:xfrm>
            <a:off x="4581144" y="2258568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retro-2-titulo"/>
          <p:cNvSpPr txBox="1"/>
          <p:nvPr/>
        </p:nvSpPr>
        <p:spPr>
          <a:xfrm>
            <a:off x="4901184" y="2176272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funcionó</a:t>
            </a:r>
            <a:endParaRPr lang="en-US" sz="1800" dirty="0"/>
          </a:p>
        </p:txBody>
      </p:sp>
      <p:sp>
        <p:nvSpPr>
          <p:cNvPr id="16" name="retro-2-lista"/>
          <p:cNvSpPr txBox="1"/>
          <p:nvPr/>
        </p:nvSpPr>
        <p:spPr>
          <a:xfrm>
            <a:off x="4535424" y="2697480"/>
            <a:ext cx="31181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Los trámites externos empezaron el día 13, no el primero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Las alertas automáticas, sin facturación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La Web sin conexión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Requerimientos no funcionales no verificables tal como se escribieron</a:t>
            </a:r>
            <a:endParaRPr lang="en-US" sz="1350" dirty="0"/>
          </a:p>
        </p:txBody>
      </p:sp>
      <p:sp>
        <p:nvSpPr>
          <p:cNvPr id="17" name="retro-3"/>
          <p:cNvSpPr/>
          <p:nvPr/>
        </p:nvSpPr>
        <p:spPr>
          <a:xfrm>
            <a:off x="8065008" y="2011680"/>
            <a:ext cx="3483864" cy="324612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8" name="retro-3-marca"/>
          <p:cNvSpPr/>
          <p:nvPr/>
        </p:nvSpPr>
        <p:spPr>
          <a:xfrm>
            <a:off x="8293608" y="2258568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9" name="retro-3-titulo"/>
          <p:cNvSpPr txBox="1"/>
          <p:nvPr/>
        </p:nvSpPr>
        <p:spPr>
          <a:xfrm>
            <a:off x="8613648" y="2176272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</a:t>
            </a:r>
            <a:endParaRPr lang="en-US" sz="1800" dirty="0"/>
          </a:p>
        </p:txBody>
      </p:sp>
      <p:sp>
        <p:nvSpPr>
          <p:cNvPr id="20" name="retro-3-lista"/>
          <p:cNvSpPr txBox="1"/>
          <p:nvPr/>
        </p:nvSpPr>
        <p:spPr>
          <a:xfrm>
            <a:off x="8247888" y="2697480"/>
            <a:ext cx="31181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Decidir al planificar qué RNF se miden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Abrir la prueba cerrada en cuanto exista la interna, con 12 testers listos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Política de privacidad en la app, ícono propio y respaldo automático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Convertir en requerimiento el módulo de muelle (CU04 y CU10)</a:t>
            </a:r>
            <a:endParaRPr lang="en-US" sz="1350" dirty="0"/>
          </a:p>
        </p:txBody>
      </p:sp>
      <p:sp>
        <p:nvSpPr>
          <p:cNvPr id="21" name="retro-cierre"/>
          <p:cNvSpPr txBox="1"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Tres de los nueve errores de la doble prueba eran de quien planificaba y auditaba, y uno del propio autor: la verificación no distingue roles.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incremento implica para las hipótesis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indicador se mide todavía, y H3 espera un módulo que ningún requerimiento recogió.</a:t>
            </a:r>
            <a:endParaRPr lang="en-US" sz="1400" dirty="0"/>
          </a:p>
        </p:txBody>
      </p:sp>
      <p:sp>
        <p:nvSpPr>
          <p:cNvPr id="4" name="motivo-punto-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motivo-punto-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otivo-punto-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motivo-punto-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motivo-punto-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hipotesis-1"/>
          <p:cNvSpPr/>
          <p:nvPr/>
        </p:nvSpPr>
        <p:spPr>
          <a:xfrm>
            <a:off x="640080" y="2011680"/>
            <a:ext cx="3483864" cy="301752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0" name="hipotesis-1-codigo"/>
          <p:cNvSpPr txBox="1"/>
          <p:nvPr/>
        </p:nvSpPr>
        <p:spPr>
          <a:xfrm>
            <a:off x="868680" y="2194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3600" dirty="0"/>
          </a:p>
        </p:txBody>
      </p:sp>
      <p:sp>
        <p:nvSpPr>
          <p:cNvPr id="11" name="hipotesis-1-nombre"/>
          <p:cNvSpPr txBox="1"/>
          <p:nvPr/>
        </p:nvSpPr>
        <p:spPr>
          <a:xfrm>
            <a:off x="868680" y="292608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Validación preventiva</a:t>
            </a:r>
            <a:endParaRPr lang="en-US" sz="1500" dirty="0"/>
          </a:p>
        </p:txBody>
      </p:sp>
      <p:sp>
        <p:nvSpPr>
          <p:cNvPr id="12" name="hipotesis-1-texto"/>
          <p:cNvSpPr txBox="1"/>
          <p:nvPr/>
        </p:nvSpPr>
        <p:spPr>
          <a:xfrm>
            <a:off x="868680" y="3429000"/>
            <a:ext cx="3026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módulo de muelle que exige H3 (CU04 y CU10) no existe: ningún requerimiento lo recogió. RF‑027 aporta las reglas que aplicará. Entra al Sprint 3.</a:t>
            </a:r>
            <a:endParaRPr lang="en-US" sz="1400" dirty="0"/>
          </a:p>
        </p:txBody>
      </p:sp>
      <p:sp>
        <p:nvSpPr>
          <p:cNvPr id="13" name="hipotesis-2"/>
          <p:cNvSpPr/>
          <p:nvPr/>
        </p:nvSpPr>
        <p:spPr>
          <a:xfrm>
            <a:off x="4352544" y="2011680"/>
            <a:ext cx="3483864" cy="301752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4" name="hipotesis-2-codigo"/>
          <p:cNvSpPr txBox="1"/>
          <p:nvPr/>
        </p:nvSpPr>
        <p:spPr>
          <a:xfrm>
            <a:off x="4581144" y="2194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</a:t>
            </a:r>
            <a:endParaRPr lang="en-US" sz="3600" dirty="0"/>
          </a:p>
        </p:txBody>
      </p:sp>
      <p:sp>
        <p:nvSpPr>
          <p:cNvPr id="15" name="hipotesis-2-nombre"/>
          <p:cNvSpPr txBox="1"/>
          <p:nvPr/>
        </p:nvSpPr>
        <p:spPr>
          <a:xfrm>
            <a:off x="4581144" y="292608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Una sola base de código</a:t>
            </a:r>
            <a:endParaRPr lang="en-US" sz="1500" dirty="0"/>
          </a:p>
        </p:txBody>
      </p:sp>
      <p:sp>
        <p:nvSpPr>
          <p:cNvPr id="16" name="hipotesis-2-texto"/>
          <p:cNvSpPr txBox="1"/>
          <p:nvPr/>
        </p:nvSpPr>
        <p:spPr>
          <a:xfrm>
            <a:off x="4581144" y="3429000"/>
            <a:ext cx="3026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Nada se implementó dos veces. Pero la verificación no se comparte: las diferencias que importaron fueron de plataforma, no de código.</a:t>
            </a:r>
            <a:endParaRPr lang="en-US" sz="1400" dirty="0"/>
          </a:p>
        </p:txBody>
      </p:sp>
      <p:sp>
        <p:nvSpPr>
          <p:cNvPr id="17" name="hipotesis-3"/>
          <p:cNvSpPr/>
          <p:nvPr/>
        </p:nvSpPr>
        <p:spPr>
          <a:xfrm>
            <a:off x="8065008" y="2011680"/>
            <a:ext cx="3483864" cy="3017520"/>
          </a:xfrm>
          <a:prstGeom prst="rect">
            <a:avLst/>
          </a:prstGeom>
          <a:solidFill>
            <a:schemeClr val="bg2"/>
          </a:solidFill>
          <a:ln w="9525">
            <a:solidFill>
              <a:srgbClr val="D6D2CB"/>
            </a:solidFill>
            <a:prstDash val="solid"/>
          </a:ln>
        </p:spPr>
      </p:sp>
      <p:sp>
        <p:nvSpPr>
          <p:cNvPr id="18" name="hipotesis-3-codigo"/>
          <p:cNvSpPr txBox="1"/>
          <p:nvPr/>
        </p:nvSpPr>
        <p:spPr>
          <a:xfrm>
            <a:off x="8293608" y="2194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H5</a:t>
            </a:r>
            <a:endParaRPr lang="en-US" sz="3600" dirty="0"/>
          </a:p>
        </p:txBody>
      </p:sp>
      <p:sp>
        <p:nvSpPr>
          <p:cNvPr id="19" name="hipotesis-3-nombre"/>
          <p:cNvSpPr txBox="1"/>
          <p:nvPr/>
        </p:nvSpPr>
        <p:spPr>
          <a:xfrm>
            <a:off x="8293608" y="292608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Sincronización con Firestore</a:t>
            </a:r>
            <a:endParaRPr lang="en-US" sz="1500" dirty="0"/>
          </a:p>
        </p:txBody>
      </p:sp>
      <p:sp>
        <p:nvSpPr>
          <p:cNvPr id="20" name="hipotesis-3-texto"/>
          <p:cNvSpPr txBox="1"/>
          <p:nvPr/>
        </p:nvSpPr>
        <p:spPr>
          <a:xfrm>
            <a:off x="8293608" y="3429000"/>
            <a:ext cx="3026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 serie de 30 eventos está preservada. El producto funciona sin conexión pero no sincroniza: la latencia de H5 corresponde a la instrumentación.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y siguiente paso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sprint cumplió su objetivo; solo falta instalar desde Play la versión publicada.</a:t>
            </a:r>
            <a:endParaRPr lang="en-US" sz="1400" dirty="0"/>
          </a:p>
        </p:txBody>
      </p:sp>
      <p:sp>
        <p:nvSpPr>
          <p:cNvPr id="4" name="motivo-punto-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motivo-punto-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otivo-punto-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motivo-punto-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motivo-punto-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cierre-1-marca"/>
          <p:cNvSpPr/>
          <p:nvPr/>
        </p:nvSpPr>
        <p:spPr>
          <a:xfrm>
            <a:off x="640080" y="2029968"/>
            <a:ext cx="201168" cy="201168"/>
          </a:xfrm>
          <a:prstGeom prst="ellipse">
            <a:avLst/>
          </a:prstGeom>
          <a:solidFill>
            <a:srgbClr val="3F8F72"/>
          </a:solidFill>
          <a:ln/>
        </p:spPr>
      </p:sp>
      <p:sp>
        <p:nvSpPr>
          <p:cNvPr id="10" name="cierre-1-hito"/>
          <p:cNvSpPr txBox="1"/>
          <p:nvPr/>
        </p:nvSpPr>
        <p:spPr>
          <a:xfrm>
            <a:off x="1051560" y="19202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Sprint 2</a:t>
            </a:r>
            <a:endParaRPr lang="en-US" sz="1600" dirty="0"/>
          </a:p>
        </p:txBody>
      </p:sp>
      <p:sp>
        <p:nvSpPr>
          <p:cNvPr id="11" name="cierre-1-texto"/>
          <p:cNvSpPr txBox="1"/>
          <p:nvPr/>
        </p:nvSpPr>
        <p:spPr>
          <a:xfrm>
            <a:off x="3931920" y="1920240"/>
            <a:ext cx="7616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2CB"/>
                </a:solidFill>
              </a:rPr>
              <a:t>25 de 26 tareas · 33.0 h · 282 pruebas · Web publicada</a:t>
            </a:r>
            <a:endParaRPr lang="en-US" sz="1400" dirty="0"/>
          </a:p>
        </p:txBody>
      </p:sp>
      <p:sp>
        <p:nvSpPr>
          <p:cNvPr id="12" name="cierre-2-marca"/>
          <p:cNvSpPr/>
          <p:nvPr/>
        </p:nvSpPr>
        <p:spPr>
          <a:xfrm>
            <a:off x="640080" y="2944368"/>
            <a:ext cx="201168" cy="20116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3" name="cierre-2-hito"/>
          <p:cNvSpPr txBox="1"/>
          <p:nvPr/>
        </p:nvSpPr>
        <p:spPr>
          <a:xfrm>
            <a:off x="1051560" y="28346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17 de octubre</a:t>
            </a:r>
            <a:endParaRPr lang="en-US" sz="1600" dirty="0"/>
          </a:p>
        </p:txBody>
      </p:sp>
      <p:sp>
        <p:nvSpPr>
          <p:cNvPr id="14" name="cierre-2-texto"/>
          <p:cNvSpPr txBox="1"/>
          <p:nvPr/>
        </p:nvSpPr>
        <p:spPr>
          <a:xfrm>
            <a:off x="3931920" y="2834640"/>
            <a:ext cx="7616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2CB"/>
                </a:solidFill>
              </a:rPr>
              <a:t>Entrega del Incremento 2: documento, presentación y tablero</a:t>
            </a:r>
            <a:endParaRPr lang="en-US" sz="1400" dirty="0"/>
          </a:p>
        </p:txBody>
      </p:sp>
      <p:sp>
        <p:nvSpPr>
          <p:cNvPr id="15" name="cierre-3-marca"/>
          <p:cNvSpPr/>
          <p:nvPr/>
        </p:nvSpPr>
        <p:spPr>
          <a:xfrm>
            <a:off x="640080" y="3858768"/>
            <a:ext cx="201168" cy="201168"/>
          </a:xfrm>
          <a:prstGeom prst="ellipse">
            <a:avLst/>
          </a:prstGeom>
          <a:solidFill>
            <a:srgbClr val="7FA8BC"/>
          </a:solidFill>
          <a:ln/>
        </p:spPr>
      </p:sp>
      <p:sp>
        <p:nvSpPr>
          <p:cNvPr id="16" name="cierre-3-hito"/>
          <p:cNvSpPr txBox="1"/>
          <p:nvPr/>
        </p:nvSpPr>
        <p:spPr>
          <a:xfrm>
            <a:off x="1051560" y="37490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Google Play</a:t>
            </a:r>
            <a:endParaRPr lang="en-US" sz="1600" dirty="0"/>
          </a:p>
        </p:txBody>
      </p:sp>
      <p:sp>
        <p:nvSpPr>
          <p:cNvPr id="17" name="cierre-3-texto"/>
          <p:cNvSpPr txBox="1"/>
          <p:nvPr/>
        </p:nvSpPr>
        <p:spPr>
          <a:xfrm>
            <a:off x="3931920" y="3749040"/>
            <a:ext cx="7616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2CB"/>
                </a:solidFill>
              </a:rPr>
              <a:t>Prueba interna publicada el 3‑oct; instalar en el Honor y abrir la prueba cerrada</a:t>
            </a:r>
            <a:endParaRPr lang="en-US" sz="1400" dirty="0"/>
          </a:p>
        </p:txBody>
      </p:sp>
      <p:sp>
        <p:nvSpPr>
          <p:cNvPr id="18" name="cierre-4-marca"/>
          <p:cNvSpPr/>
          <p:nvPr/>
        </p:nvSpPr>
        <p:spPr>
          <a:xfrm>
            <a:off x="640080" y="4773168"/>
            <a:ext cx="201168" cy="201168"/>
          </a:xfrm>
          <a:prstGeom prst="ellipse">
            <a:avLst/>
          </a:prstGeom>
          <a:solidFill>
            <a:srgbClr val="7FA8BC"/>
          </a:solidFill>
          <a:ln/>
        </p:spPr>
      </p:sp>
      <p:sp>
        <p:nvSpPr>
          <p:cNvPr id="19" name="cierre-4-hito"/>
          <p:cNvSpPr txBox="1"/>
          <p:nvPr/>
        </p:nvSpPr>
        <p:spPr>
          <a:xfrm>
            <a:off x="1051560" y="46634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Sprint 3, hasta el 24‑oct</a:t>
            </a:r>
            <a:endParaRPr lang="en-US" sz="1600" dirty="0"/>
          </a:p>
        </p:txBody>
      </p:sp>
      <p:sp>
        <p:nvSpPr>
          <p:cNvPr id="20" name="cierre-4-texto"/>
          <p:cNvSpPr txBox="1"/>
          <p:nvPr/>
        </p:nvSpPr>
        <p:spPr>
          <a:xfrm>
            <a:off x="3931920" y="4663440"/>
            <a:ext cx="7616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2CB"/>
                </a:solidFill>
              </a:rPr>
              <a:t>Módulo de muelle sincronizado, tapas, plan de carga, BAPLIE de salida, manual y presentación final</a:t>
            </a:r>
            <a:endParaRPr lang="en-US" sz="1400" dirty="0"/>
          </a:p>
        </p:txBody>
      </p:sp>
      <p:sp>
        <p:nvSpPr>
          <p:cNvPr id="21" name="cierre-autor"/>
          <p:cNvSpPr txBox="1"/>
          <p:nvPr/>
        </p:nvSpPr>
        <p:spPr>
          <a:xfrm>
            <a:off x="640080" y="6172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BC"/>
                </a:solidFill>
              </a:rPr>
              <a:t>Carlos Giovanni Martínez Aldana · 0909‑22‑19157 · 17 de octubre de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8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yStream">
  <a:themeElements>
    <a:clrScheme name="BayStream">
      <a:dk1>
        <a:srgbClr val="16222A"/>
      </a:dk1>
      <a:lt1>
        <a:srgbClr val="FFFFFF"/>
      </a:lt1>
      <a:dk2>
        <a:srgbClr val="5E6B75"/>
      </a:dk2>
      <a:lt2>
        <a:srgbClr val="F2F0EC"/>
      </a:lt2>
      <a:accent1>
        <a:srgbClr val="E8722C"/>
      </a:accent1>
      <a:accent2>
        <a:srgbClr val="3F8F72"/>
      </a:accent2>
      <a:accent3>
        <a:srgbClr val="A8480F"/>
      </a:accent3>
      <a:accent4>
        <a:srgbClr val="2E4756"/>
      </a:accent4>
      <a:accent5>
        <a:srgbClr val="D6D2CB"/>
      </a:accent5>
      <a:accent6>
        <a:srgbClr val="7FA8BC"/>
      </a:accent6>
      <a:hlink>
        <a:srgbClr val="2E4756"/>
      </a:hlink>
      <a:folHlink>
        <a:srgbClr val="5E6B75"/>
      </a:folHlink>
    </a:clrScheme>
    <a:fontScheme name="BayStrea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Incremento 2 — BayStream</dc:title>
  <dc:subject>PptxGenJS Presentation</dc:subject>
  <dc:creator>Carlos Giovanni Martínez Aldana</dc:creator>
  <cp:lastModifiedBy>Carlos Giovanni Martínez Aldana</cp:lastModifiedBy>
  <cp:revision>1</cp:revision>
  <dcterms:created xsi:type="dcterms:W3CDTF">2026-10-05T21:23:16Z</dcterms:created>
  <dcterms:modified xsi:type="dcterms:W3CDTF">2026-10-05T21:23:16Z</dcterms:modified>
</cp:coreProperties>
</file>